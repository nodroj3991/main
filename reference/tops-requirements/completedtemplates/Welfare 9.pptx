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10"/>
  </p:notesMasterIdLst>
  <p:handoutMasterIdLst>
    <p:handoutMasterId r:id="rId11"/>
  </p:handoutMasterIdLst>
  <p:sldIdLst>
    <p:sldId id="256" r:id="rId2"/>
    <p:sldId id="258" r:id="rId3"/>
    <p:sldId id="259" r:id="rId4"/>
    <p:sldId id="265" r:id="rId5"/>
    <p:sldId id="263" r:id="rId6"/>
    <p:sldId id="266" r:id="rId7"/>
    <p:sldId id="267" r:id="rId8"/>
    <p:sldId id="264" r:id="rId9"/>
  </p:sldIdLst>
  <p:sldSz cx="12192000" cy="6858000"/>
  <p:notesSz cx="6797675" cy="9926638"/>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3728"/>
    <p:restoredTop sz="94665"/>
  </p:normalViewPr>
  <p:slideViewPr>
    <p:cSldViewPr snapToGrid="0" snapToObjects="1">
      <p:cViewPr varScale="1">
        <p:scale>
          <a:sx n="107" d="100"/>
          <a:sy n="107" d="100"/>
        </p:scale>
        <p:origin x="272" y="16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5659" cy="498056"/>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sz="quarter" idx="1"/>
          </p:nvPr>
        </p:nvSpPr>
        <p:spPr>
          <a:xfrm>
            <a:off x="3850443" y="0"/>
            <a:ext cx="2945659" cy="498056"/>
          </a:xfrm>
          <a:prstGeom prst="rect">
            <a:avLst/>
          </a:prstGeom>
        </p:spPr>
        <p:txBody>
          <a:bodyPr vert="horz" lIns="91440" tIns="45720" rIns="91440" bIns="45720" rtlCol="0"/>
          <a:lstStyle>
            <a:lvl1pPr algn="r">
              <a:defRPr sz="1200"/>
            </a:lvl1pPr>
          </a:lstStyle>
          <a:p>
            <a:fld id="{A1FF091F-067A-462A-B92E-73C9B3508A5B}" type="datetimeFigureOut">
              <a:rPr lang="en-GB" smtClean="0"/>
              <a:t>01/11/2019</a:t>
            </a:fld>
            <a:endParaRPr lang="en-GB"/>
          </a:p>
        </p:txBody>
      </p:sp>
      <p:sp>
        <p:nvSpPr>
          <p:cNvPr id="4" name="Footer Placeholder 3"/>
          <p:cNvSpPr>
            <a:spLocks noGrp="1"/>
          </p:cNvSpPr>
          <p:nvPr>
            <p:ph type="ftr" sz="quarter" idx="2"/>
          </p:nvPr>
        </p:nvSpPr>
        <p:spPr>
          <a:xfrm>
            <a:off x="0" y="9428584"/>
            <a:ext cx="2945659" cy="498055"/>
          </a:xfrm>
          <a:prstGeom prst="rect">
            <a:avLst/>
          </a:prstGeom>
        </p:spPr>
        <p:txBody>
          <a:bodyPr vert="horz" lIns="91440" tIns="45720" rIns="91440" bIns="45720" rtlCol="0" anchor="b"/>
          <a:lstStyle>
            <a:lvl1pPr algn="l">
              <a:defRPr sz="1200"/>
            </a:lvl1pPr>
          </a:lstStyle>
          <a:p>
            <a:endParaRPr lang="en-GB"/>
          </a:p>
        </p:txBody>
      </p:sp>
      <p:sp>
        <p:nvSpPr>
          <p:cNvPr id="5" name="Slide Number Placeholder 4"/>
          <p:cNvSpPr>
            <a:spLocks noGrp="1"/>
          </p:cNvSpPr>
          <p:nvPr>
            <p:ph type="sldNum" sz="quarter" idx="3"/>
          </p:nvPr>
        </p:nvSpPr>
        <p:spPr>
          <a:xfrm>
            <a:off x="3850443" y="9428584"/>
            <a:ext cx="2945659" cy="498055"/>
          </a:xfrm>
          <a:prstGeom prst="rect">
            <a:avLst/>
          </a:prstGeom>
        </p:spPr>
        <p:txBody>
          <a:bodyPr vert="horz" lIns="91440" tIns="45720" rIns="91440" bIns="45720" rtlCol="0" anchor="b"/>
          <a:lstStyle>
            <a:lvl1pPr algn="r">
              <a:defRPr sz="1200"/>
            </a:lvl1pPr>
          </a:lstStyle>
          <a:p>
            <a:fld id="{686FABE1-2A58-4318-9501-9C70D50F8BEC}" type="slidenum">
              <a:rPr lang="en-GB" smtClean="0"/>
              <a:t>‹#›</a:t>
            </a:fld>
            <a:endParaRPr lang="en-GB"/>
          </a:p>
        </p:txBody>
      </p:sp>
    </p:spTree>
    <p:extLst>
      <p:ext uri="{BB962C8B-B14F-4D97-AF65-F5344CB8AC3E}">
        <p14:creationId xmlns:p14="http://schemas.microsoft.com/office/powerpoint/2010/main" val="5543050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5659" cy="498056"/>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50443" y="0"/>
            <a:ext cx="2945659" cy="498056"/>
          </a:xfrm>
          <a:prstGeom prst="rect">
            <a:avLst/>
          </a:prstGeom>
        </p:spPr>
        <p:txBody>
          <a:bodyPr vert="horz" lIns="91440" tIns="45720" rIns="91440" bIns="45720" rtlCol="0"/>
          <a:lstStyle>
            <a:lvl1pPr algn="r">
              <a:defRPr sz="1200"/>
            </a:lvl1pPr>
          </a:lstStyle>
          <a:p>
            <a:fld id="{C5EDE735-C213-4228-8097-E58F4753F4DB}" type="datetimeFigureOut">
              <a:rPr lang="en-GB" smtClean="0"/>
              <a:t>01/11/2019</a:t>
            </a:fld>
            <a:endParaRPr lang="en-GB"/>
          </a:p>
        </p:txBody>
      </p:sp>
      <p:sp>
        <p:nvSpPr>
          <p:cNvPr id="4" name="Slide Image Placeholder 3"/>
          <p:cNvSpPr>
            <a:spLocks noGrp="1" noRot="1" noChangeAspect="1"/>
          </p:cNvSpPr>
          <p:nvPr>
            <p:ph type="sldImg" idx="2"/>
          </p:nvPr>
        </p:nvSpPr>
        <p:spPr>
          <a:xfrm>
            <a:off x="422275" y="1241425"/>
            <a:ext cx="5953125" cy="3349625"/>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79768" y="4777194"/>
            <a:ext cx="5438140" cy="3908614"/>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9428584"/>
            <a:ext cx="2945659" cy="498055"/>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50443" y="9428584"/>
            <a:ext cx="2945659" cy="498055"/>
          </a:xfrm>
          <a:prstGeom prst="rect">
            <a:avLst/>
          </a:prstGeom>
        </p:spPr>
        <p:txBody>
          <a:bodyPr vert="horz" lIns="91440" tIns="45720" rIns="91440" bIns="45720" rtlCol="0" anchor="b"/>
          <a:lstStyle>
            <a:lvl1pPr algn="r">
              <a:defRPr sz="1200"/>
            </a:lvl1pPr>
          </a:lstStyle>
          <a:p>
            <a:fld id="{D5769FA6-0178-4E1C-B22C-4FEDD5C4BA3B}" type="slidenum">
              <a:rPr lang="en-GB" smtClean="0"/>
              <a:t>‹#›</a:t>
            </a:fld>
            <a:endParaRPr lang="en-GB"/>
          </a:p>
        </p:txBody>
      </p:sp>
    </p:spTree>
    <p:extLst>
      <p:ext uri="{BB962C8B-B14F-4D97-AF65-F5344CB8AC3E}">
        <p14:creationId xmlns:p14="http://schemas.microsoft.com/office/powerpoint/2010/main" val="12075903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GB" dirty="0"/>
              <a:t>Title</a:t>
            </a:r>
            <a:r>
              <a:rPr lang="en-GB" baseline="0" dirty="0"/>
              <a:t> slide outlines the main equipment utilised if any outside of the normal ranges. </a:t>
            </a:r>
            <a:r>
              <a:rPr lang="en-GB" sz="1200" kern="1200" dirty="0">
                <a:solidFill>
                  <a:schemeClr val="tx1"/>
                </a:solidFill>
                <a:effectLst/>
                <a:latin typeface="+mn-lt"/>
                <a:ea typeface="+mn-ea"/>
                <a:cs typeface="+mn-cs"/>
              </a:rPr>
              <a:t>Students will be given several quick multiple-choice questions to write down with the questions on the board. The answers will then be fed back to the students as they peer mark their assessments. </a:t>
            </a:r>
          </a:p>
          <a:p>
            <a:pPr lvl="0"/>
            <a:r>
              <a:rPr lang="en-GB" sz="1200" kern="1200" dirty="0">
                <a:solidFill>
                  <a:schemeClr val="tx1"/>
                </a:solidFill>
                <a:effectLst/>
                <a:latin typeface="+mn-lt"/>
                <a:ea typeface="+mn-ea"/>
                <a:cs typeface="+mn-cs"/>
              </a:rPr>
              <a:t>Students should be able to provide 4 example animals and be able to identify why it is that category. </a:t>
            </a:r>
          </a:p>
          <a:p>
            <a:pPr lvl="0"/>
            <a:r>
              <a:rPr lang="en-GB" sz="1200" kern="1200" dirty="0">
                <a:solidFill>
                  <a:schemeClr val="tx1"/>
                </a:solidFill>
                <a:effectLst/>
                <a:latin typeface="+mn-lt"/>
                <a:ea typeface="+mn-ea"/>
                <a:cs typeface="+mn-cs"/>
              </a:rPr>
              <a:t>The students should all be able to list or map where the different animals were distributed around the globe. They should then move onto what advantages this led to for the populations of humans. </a:t>
            </a:r>
          </a:p>
          <a:p>
            <a:pPr lvl="0"/>
            <a:r>
              <a:rPr lang="en-GB" sz="1200" kern="1200" dirty="0">
                <a:solidFill>
                  <a:schemeClr val="tx1"/>
                </a:solidFill>
                <a:effectLst/>
                <a:latin typeface="+mn-lt"/>
                <a:ea typeface="+mn-ea"/>
                <a:cs typeface="+mn-cs"/>
              </a:rPr>
              <a:t>Following this the students need to be able to think about breeding and how the animals have changed based on the characteristics necessary for their environment. They should be able to give four example animals excluding the dog and cat.</a:t>
            </a:r>
          </a:p>
          <a:p>
            <a:pPr lvl="0"/>
            <a:r>
              <a:rPr lang="en-GB" sz="1200" kern="1200" dirty="0">
                <a:solidFill>
                  <a:schemeClr val="tx1"/>
                </a:solidFill>
                <a:effectLst/>
                <a:latin typeface="+mn-lt"/>
                <a:ea typeface="+mn-ea"/>
                <a:cs typeface="+mn-cs"/>
              </a:rPr>
              <a:t>Once the students have given an example they need to address the following points. Why do animals form these bonds? Are these bonds positive or negative?</a:t>
            </a:r>
          </a:p>
          <a:p>
            <a:pPr lvl="0"/>
            <a:r>
              <a:rPr lang="en-GB" sz="1200" kern="1200" dirty="0">
                <a:solidFill>
                  <a:schemeClr val="tx1"/>
                </a:solidFill>
                <a:effectLst/>
                <a:latin typeface="+mn-lt"/>
                <a:ea typeface="+mn-ea"/>
                <a:cs typeface="+mn-cs"/>
              </a:rPr>
              <a:t>They will then be stretched by asking what animals are unlikely to form these relationships and why.  </a:t>
            </a:r>
          </a:p>
          <a:p>
            <a:pPr lvl="0"/>
            <a:r>
              <a:rPr lang="en-GB" sz="1200" kern="1200" dirty="0">
                <a:solidFill>
                  <a:schemeClr val="tx1"/>
                </a:solidFill>
                <a:effectLst/>
                <a:latin typeface="+mn-lt"/>
                <a:ea typeface="+mn-ea"/>
                <a:cs typeface="+mn-cs"/>
              </a:rPr>
              <a:t>The class should be able to work in pairs and think of how they would domesticate a wild species and then pitch to another group why they think this. The other groups should then evaluate their pitch.</a:t>
            </a:r>
          </a:p>
          <a:p>
            <a:r>
              <a:rPr lang="en-GB" sz="1200" kern="1200" dirty="0">
                <a:solidFill>
                  <a:schemeClr val="tx1"/>
                </a:solidFill>
                <a:effectLst/>
                <a:latin typeface="+mn-lt"/>
                <a:ea typeface="+mn-ea"/>
                <a:cs typeface="+mn-cs"/>
              </a:rPr>
              <a:t>Students need to watch the documentary pedigree dogs exposed for a discussion the following week. Prior to the end of the lesson students will be asked their thoughts on pedigree breeding to gauge innate bias. </a:t>
            </a:r>
          </a:p>
        </p:txBody>
      </p:sp>
      <p:sp>
        <p:nvSpPr>
          <p:cNvPr id="4" name="Slide Number Placeholder 3"/>
          <p:cNvSpPr>
            <a:spLocks noGrp="1"/>
          </p:cNvSpPr>
          <p:nvPr>
            <p:ph type="sldNum" sz="quarter" idx="10"/>
          </p:nvPr>
        </p:nvSpPr>
        <p:spPr/>
        <p:txBody>
          <a:bodyPr/>
          <a:lstStyle/>
          <a:p>
            <a:fld id="{D5769FA6-0178-4E1C-B22C-4FEDD5C4BA3B}" type="slidenum">
              <a:rPr lang="en-GB" smtClean="0"/>
              <a:t>1</a:t>
            </a:fld>
            <a:endParaRPr lang="en-GB"/>
          </a:p>
        </p:txBody>
      </p:sp>
    </p:spTree>
    <p:extLst>
      <p:ext uri="{BB962C8B-B14F-4D97-AF65-F5344CB8AC3E}">
        <p14:creationId xmlns:p14="http://schemas.microsoft.com/office/powerpoint/2010/main" val="126617523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GB" dirty="0"/>
              <a:t>Connect</a:t>
            </a:r>
            <a:r>
              <a:rPr lang="en-GB" baseline="0" dirty="0"/>
              <a:t> activity highlighted red to outline light introduction to topic. </a:t>
            </a:r>
            <a:r>
              <a:rPr lang="en-GB" sz="1200" kern="1200" dirty="0">
                <a:solidFill>
                  <a:schemeClr val="tx1"/>
                </a:solidFill>
                <a:effectLst/>
                <a:latin typeface="+mn-lt"/>
                <a:ea typeface="+mn-ea"/>
                <a:cs typeface="+mn-cs"/>
              </a:rPr>
              <a:t>Students will be given several quick multiple-choice questions to write down with the questions on the board. The answers will then be fed back to the students as they peer mark their assessments. </a:t>
            </a:r>
          </a:p>
        </p:txBody>
      </p:sp>
      <p:sp>
        <p:nvSpPr>
          <p:cNvPr id="4" name="Slide Number Placeholder 3"/>
          <p:cNvSpPr>
            <a:spLocks noGrp="1"/>
          </p:cNvSpPr>
          <p:nvPr>
            <p:ph type="sldNum" sz="quarter" idx="10"/>
          </p:nvPr>
        </p:nvSpPr>
        <p:spPr/>
        <p:txBody>
          <a:bodyPr/>
          <a:lstStyle/>
          <a:p>
            <a:fld id="{D5769FA6-0178-4E1C-B22C-4FEDD5C4BA3B}" type="slidenum">
              <a:rPr lang="en-GB" smtClean="0"/>
              <a:t>2</a:t>
            </a:fld>
            <a:endParaRPr lang="en-GB"/>
          </a:p>
        </p:txBody>
      </p:sp>
    </p:spTree>
    <p:extLst>
      <p:ext uri="{BB962C8B-B14F-4D97-AF65-F5344CB8AC3E}">
        <p14:creationId xmlns:p14="http://schemas.microsoft.com/office/powerpoint/2010/main" val="8832608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1"/>
            <a:r>
              <a:rPr lang="en-GB" dirty="0"/>
              <a:t>Blue tutor</a:t>
            </a:r>
            <a:r>
              <a:rPr lang="en-GB" baseline="0" dirty="0"/>
              <a:t> or handout led activity more teacher led then student. </a:t>
            </a:r>
            <a:r>
              <a:rPr lang="en-US" dirty="0"/>
              <a:t>Students need to be able to give examples of the 4 levels of domestication and understand how an animal is domesticated.</a:t>
            </a:r>
          </a:p>
          <a:p>
            <a:pPr marL="457200" marR="0" lvl="1" indent="0" algn="l" defTabSz="914400" rtl="0" eaLnBrk="1" fontAlgn="auto" latinLnBrk="0" hangingPunct="1">
              <a:lnSpc>
                <a:spcPct val="100000"/>
              </a:lnSpc>
              <a:spcBef>
                <a:spcPts val="0"/>
              </a:spcBef>
              <a:spcAft>
                <a:spcPts val="0"/>
              </a:spcAft>
              <a:buClrTx/>
              <a:buSzTx/>
              <a:buFontTx/>
              <a:buNone/>
              <a:tabLst/>
              <a:defRPr/>
            </a:pPr>
            <a:r>
              <a:rPr lang="en-US" dirty="0"/>
              <a:t>Students need to think why animals were domesticated and the advantages this led to. </a:t>
            </a:r>
          </a:p>
        </p:txBody>
      </p:sp>
      <p:sp>
        <p:nvSpPr>
          <p:cNvPr id="4" name="Slide Number Placeholder 3"/>
          <p:cNvSpPr>
            <a:spLocks noGrp="1"/>
          </p:cNvSpPr>
          <p:nvPr>
            <p:ph type="sldNum" sz="quarter" idx="10"/>
          </p:nvPr>
        </p:nvSpPr>
        <p:spPr/>
        <p:txBody>
          <a:bodyPr/>
          <a:lstStyle/>
          <a:p>
            <a:fld id="{D5769FA6-0178-4E1C-B22C-4FEDD5C4BA3B}" type="slidenum">
              <a:rPr lang="en-GB" smtClean="0"/>
              <a:t>3</a:t>
            </a:fld>
            <a:endParaRPr lang="en-GB"/>
          </a:p>
        </p:txBody>
      </p:sp>
    </p:spTree>
    <p:extLst>
      <p:ext uri="{BB962C8B-B14F-4D97-AF65-F5344CB8AC3E}">
        <p14:creationId xmlns:p14="http://schemas.microsoft.com/office/powerpoint/2010/main" val="119952462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Blue tutor</a:t>
            </a:r>
            <a:r>
              <a:rPr lang="en-GB" baseline="0" dirty="0"/>
              <a:t> or handout led activity more teacher led then student. </a:t>
            </a:r>
            <a:r>
              <a:rPr lang="en-US" dirty="0"/>
              <a:t>Students are given examples of how selective breeding has caused a change in the domestic animal by outlining how the dog and horse are different across specific areas.</a:t>
            </a:r>
          </a:p>
        </p:txBody>
      </p:sp>
      <p:sp>
        <p:nvSpPr>
          <p:cNvPr id="4" name="Slide Number Placeholder 3"/>
          <p:cNvSpPr>
            <a:spLocks noGrp="1"/>
          </p:cNvSpPr>
          <p:nvPr>
            <p:ph type="sldNum" sz="quarter" idx="10"/>
          </p:nvPr>
        </p:nvSpPr>
        <p:spPr/>
        <p:txBody>
          <a:bodyPr/>
          <a:lstStyle/>
          <a:p>
            <a:fld id="{D5769FA6-0178-4E1C-B22C-4FEDD5C4BA3B}" type="slidenum">
              <a:rPr lang="en-GB" smtClean="0"/>
              <a:t>4</a:t>
            </a:fld>
            <a:endParaRPr lang="en-GB"/>
          </a:p>
        </p:txBody>
      </p:sp>
    </p:spTree>
    <p:extLst>
      <p:ext uri="{BB962C8B-B14F-4D97-AF65-F5344CB8AC3E}">
        <p14:creationId xmlns:p14="http://schemas.microsoft.com/office/powerpoint/2010/main" val="154085711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Student</a:t>
            </a:r>
            <a:r>
              <a:rPr lang="en-GB" baseline="0" dirty="0"/>
              <a:t> or group led activities in green. </a:t>
            </a:r>
            <a:r>
              <a:rPr lang="en-US" dirty="0"/>
              <a:t>Getting the students to investigate a hypothesis of why animals form bonds and what vacuums these </a:t>
            </a:r>
            <a:r>
              <a:rPr lang="en-US" dirty="0" err="1"/>
              <a:t>behaviours</a:t>
            </a:r>
            <a:r>
              <a:rPr lang="en-US" dirty="0"/>
              <a:t> are covering. Students are addressing why the animal has formed this bond and thinking of whether this is positive or negative occurrence. They are given the reasons this may occur and then need to present an example of this.  </a:t>
            </a:r>
          </a:p>
        </p:txBody>
      </p:sp>
      <p:sp>
        <p:nvSpPr>
          <p:cNvPr id="4" name="Slide Number Placeholder 3"/>
          <p:cNvSpPr>
            <a:spLocks noGrp="1"/>
          </p:cNvSpPr>
          <p:nvPr>
            <p:ph type="sldNum" sz="quarter" idx="10"/>
          </p:nvPr>
        </p:nvSpPr>
        <p:spPr/>
        <p:txBody>
          <a:bodyPr/>
          <a:lstStyle/>
          <a:p>
            <a:fld id="{D5769FA6-0178-4E1C-B22C-4FEDD5C4BA3B}" type="slidenum">
              <a:rPr lang="en-GB" smtClean="0"/>
              <a:t>5</a:t>
            </a:fld>
            <a:endParaRPr lang="en-GB"/>
          </a:p>
        </p:txBody>
      </p:sp>
    </p:spTree>
    <p:extLst>
      <p:ext uri="{BB962C8B-B14F-4D97-AF65-F5344CB8AC3E}">
        <p14:creationId xmlns:p14="http://schemas.microsoft.com/office/powerpoint/2010/main" val="333142802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Student</a:t>
            </a:r>
            <a:r>
              <a:rPr lang="en-GB" baseline="0" dirty="0"/>
              <a:t> or group led activities in green. </a:t>
            </a:r>
            <a:r>
              <a:rPr lang="en-US" dirty="0"/>
              <a:t>A discussion will be conducted addressing why animals are domesticated what goes into the process and how it develops.</a:t>
            </a:r>
          </a:p>
        </p:txBody>
      </p:sp>
      <p:sp>
        <p:nvSpPr>
          <p:cNvPr id="4" name="Slide Number Placeholder 3"/>
          <p:cNvSpPr>
            <a:spLocks noGrp="1"/>
          </p:cNvSpPr>
          <p:nvPr>
            <p:ph type="sldNum" sz="quarter" idx="10"/>
          </p:nvPr>
        </p:nvSpPr>
        <p:spPr/>
        <p:txBody>
          <a:bodyPr/>
          <a:lstStyle/>
          <a:p>
            <a:fld id="{D5769FA6-0178-4E1C-B22C-4FEDD5C4BA3B}" type="slidenum">
              <a:rPr lang="en-GB" smtClean="0"/>
              <a:t>6</a:t>
            </a:fld>
            <a:endParaRPr lang="en-GB"/>
          </a:p>
        </p:txBody>
      </p:sp>
    </p:spTree>
    <p:extLst>
      <p:ext uri="{BB962C8B-B14F-4D97-AF65-F5344CB8AC3E}">
        <p14:creationId xmlns:p14="http://schemas.microsoft.com/office/powerpoint/2010/main" val="219380428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Student</a:t>
            </a:r>
            <a:r>
              <a:rPr lang="en-GB" baseline="0" dirty="0"/>
              <a:t> or group led activities in green. </a:t>
            </a:r>
            <a:r>
              <a:rPr lang="en-US" dirty="0"/>
              <a:t>A discussion will be conducted addressing why animals are domesticated what goes into the process and how it develops.</a:t>
            </a:r>
          </a:p>
        </p:txBody>
      </p:sp>
      <p:sp>
        <p:nvSpPr>
          <p:cNvPr id="4" name="Slide Number Placeholder 3"/>
          <p:cNvSpPr>
            <a:spLocks noGrp="1"/>
          </p:cNvSpPr>
          <p:nvPr>
            <p:ph type="sldNum" sz="quarter" idx="10"/>
          </p:nvPr>
        </p:nvSpPr>
        <p:spPr/>
        <p:txBody>
          <a:bodyPr/>
          <a:lstStyle/>
          <a:p>
            <a:fld id="{D5769FA6-0178-4E1C-B22C-4FEDD5C4BA3B}" type="slidenum">
              <a:rPr lang="en-GB" smtClean="0"/>
              <a:t>7</a:t>
            </a:fld>
            <a:endParaRPr lang="en-GB"/>
          </a:p>
        </p:txBody>
      </p:sp>
    </p:spTree>
    <p:extLst>
      <p:ext uri="{BB962C8B-B14F-4D97-AF65-F5344CB8AC3E}">
        <p14:creationId xmlns:p14="http://schemas.microsoft.com/office/powerpoint/2010/main" val="318402810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Recap</a:t>
            </a:r>
            <a:r>
              <a:rPr lang="en-GB" baseline="0" dirty="0"/>
              <a:t> based or concluding activity. </a:t>
            </a:r>
            <a:r>
              <a:rPr lang="en-GB" sz="1200" kern="1200" dirty="0">
                <a:solidFill>
                  <a:schemeClr val="tx1"/>
                </a:solidFill>
                <a:effectLst/>
                <a:latin typeface="+mn-lt"/>
                <a:ea typeface="+mn-ea"/>
                <a:cs typeface="+mn-cs"/>
              </a:rPr>
              <a:t>Understand the differences between the different types of selective breeding. Students given an overview of how this occurred with the dog and asked regularly what the issues could be with this type of breeding.</a:t>
            </a:r>
            <a:r>
              <a:rPr lang="en-GB" dirty="0">
                <a:effectLst/>
              </a:rPr>
              <a:t> </a:t>
            </a:r>
            <a:endParaRPr lang="en-GB" dirty="0"/>
          </a:p>
        </p:txBody>
      </p:sp>
      <p:sp>
        <p:nvSpPr>
          <p:cNvPr id="4" name="Slide Number Placeholder 3"/>
          <p:cNvSpPr>
            <a:spLocks noGrp="1"/>
          </p:cNvSpPr>
          <p:nvPr>
            <p:ph type="sldNum" sz="quarter" idx="10"/>
          </p:nvPr>
        </p:nvSpPr>
        <p:spPr/>
        <p:txBody>
          <a:bodyPr/>
          <a:lstStyle/>
          <a:p>
            <a:fld id="{D5769FA6-0178-4E1C-B22C-4FEDD5C4BA3B}" type="slidenum">
              <a:rPr lang="en-GB" smtClean="0"/>
              <a:t>8</a:t>
            </a:fld>
            <a:endParaRPr lang="en-GB"/>
          </a:p>
        </p:txBody>
      </p:sp>
    </p:spTree>
    <p:extLst>
      <p:ext uri="{BB962C8B-B14F-4D97-AF65-F5344CB8AC3E}">
        <p14:creationId xmlns:p14="http://schemas.microsoft.com/office/powerpoint/2010/main" val="210372156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blackWhite">
          <a:xfrm>
            <a:off x="1600200" y="2386744"/>
            <a:ext cx="8991600" cy="1645920"/>
          </a:xfrm>
          <a:solidFill>
            <a:srgbClr val="FFFFFF"/>
          </a:solidFill>
          <a:ln w="38100">
            <a:solidFill>
              <a:srgbClr val="404040"/>
            </a:solidFill>
          </a:ln>
        </p:spPr>
        <p:txBody>
          <a:bodyPr lIns="274320" rIns="274320" anchor="ctr" anchorCtr="1">
            <a:normAutofit/>
          </a:bodyPr>
          <a:lstStyle>
            <a:lvl1pPr algn="ctr">
              <a:defRPr sz="3800">
                <a:solidFill>
                  <a:srgbClr val="262626"/>
                </a:solidFill>
              </a:defRPr>
            </a:lvl1pPr>
          </a:lstStyle>
          <a:p>
            <a:r>
              <a:rPr lang="en-US"/>
              <a:t>Click to edit Master title style</a:t>
            </a:r>
            <a:endParaRPr lang="en-US" dirty="0"/>
          </a:p>
        </p:txBody>
      </p:sp>
      <p:sp>
        <p:nvSpPr>
          <p:cNvPr id="3" name="Subtitle 2"/>
          <p:cNvSpPr>
            <a:spLocks noGrp="1"/>
          </p:cNvSpPr>
          <p:nvPr>
            <p:ph type="subTitle" idx="1"/>
          </p:nvPr>
        </p:nvSpPr>
        <p:spPr>
          <a:xfrm>
            <a:off x="2695194" y="4352544"/>
            <a:ext cx="6801612" cy="1239894"/>
          </a:xfrm>
          <a:noFill/>
        </p:spPr>
        <p:txBody>
          <a:bodyPr>
            <a:normAutofit/>
          </a:bodyPr>
          <a:lstStyle>
            <a:lvl1pPr marL="0" indent="0" algn="ctr">
              <a:buNone/>
              <a:defRPr sz="2000">
                <a:solidFill>
                  <a:schemeClr val="tx1">
                    <a:lumMod val="75000"/>
                    <a:lumOff val="2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smtClean="0"/>
              <a:pPr/>
              <a:t>11/1/19</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smtClean="0"/>
              <a:t>‹#›</a:t>
            </a:fld>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smtClean="0"/>
              <a:t>11/1/19</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smtClean="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blackWhite">
          <a:xfrm>
            <a:off x="1600200" y="2386744"/>
            <a:ext cx="8991600" cy="1645920"/>
          </a:xfrm>
          <a:solidFill>
            <a:srgbClr val="FFFFFF"/>
          </a:solidFill>
          <a:ln w="38100">
            <a:solidFill>
              <a:srgbClr val="404040"/>
            </a:solidFill>
          </a:ln>
        </p:spPr>
        <p:txBody>
          <a:bodyPr lIns="274320" rIns="274320" anchor="ctr" anchorCtr="1">
            <a:normAutofit/>
          </a:bodyPr>
          <a:lstStyle>
            <a:lvl1pPr>
              <a:defRPr sz="3800">
                <a:solidFill>
                  <a:srgbClr val="262626"/>
                </a:solidFill>
              </a:defRPr>
            </a:lvl1pPr>
          </a:lstStyle>
          <a:p>
            <a:r>
              <a:rPr lang="en-US"/>
              <a:t>Click to edit Master title style</a:t>
            </a:r>
            <a:endParaRPr lang="en-US" dirty="0"/>
          </a:p>
        </p:txBody>
      </p:sp>
      <p:sp>
        <p:nvSpPr>
          <p:cNvPr id="3" name="Text Placeholder 2"/>
          <p:cNvSpPr>
            <a:spLocks noGrp="1"/>
          </p:cNvSpPr>
          <p:nvPr>
            <p:ph type="body" idx="1"/>
          </p:nvPr>
        </p:nvSpPr>
        <p:spPr>
          <a:xfrm>
            <a:off x="2695194" y="4352465"/>
            <a:ext cx="6801612" cy="1265082"/>
          </a:xfrm>
        </p:spPr>
        <p:txBody>
          <a:bodyPr anchor="t" anchorCtr="1">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7" name="Date Placeholder 6"/>
          <p:cNvSpPr>
            <a:spLocks noGrp="1"/>
          </p:cNvSpPr>
          <p:nvPr>
            <p:ph type="dt" sz="half" idx="10"/>
          </p:nvPr>
        </p:nvSpPr>
        <p:spPr/>
        <p:txBody>
          <a:bodyPr/>
          <a:lstStyle/>
          <a:p>
            <a:fld id="{48A87A34-81AB-432B-8DAE-1953F412C126}" type="datetimeFigureOut">
              <a:rPr lang="en-US" smtClean="0"/>
              <a:t>11/1/19</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smtClean="0"/>
              <a:t>‹#›</a:t>
            </a:fld>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581912" y="2638044"/>
            <a:ext cx="4271771" cy="31019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38315" y="2638044"/>
            <a:ext cx="4270247" cy="31019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p:cNvSpPr>
            <a:spLocks noGrp="1"/>
          </p:cNvSpPr>
          <p:nvPr>
            <p:ph type="dt" sz="half" idx="10"/>
          </p:nvPr>
        </p:nvSpPr>
        <p:spPr/>
        <p:txBody>
          <a:bodyPr/>
          <a:lstStyle/>
          <a:p>
            <a:fld id="{48A87A34-81AB-432B-8DAE-1953F412C126}" type="datetimeFigureOut">
              <a:rPr lang="en-US" smtClean="0"/>
              <a:t>11/1/19</a:t>
            </a:fld>
            <a:endParaRPr lang="en-US" dirty="0"/>
          </a:p>
        </p:txBody>
      </p:sp>
      <p:sp>
        <p:nvSpPr>
          <p:cNvPr id="9" name="Footer Placeholder 8"/>
          <p:cNvSpPr>
            <a:spLocks noGrp="1"/>
          </p:cNvSpPr>
          <p:nvPr>
            <p:ph type="ftr" sz="quarter" idx="11"/>
          </p:nvPr>
        </p:nvSpPr>
        <p:spPr/>
        <p:txBody>
          <a:bodyPr/>
          <a:lstStyle/>
          <a:p>
            <a:endParaRPr lang="en-US" dirty="0"/>
          </a:p>
        </p:txBody>
      </p:sp>
      <p:sp>
        <p:nvSpPr>
          <p:cNvPr id="10" name="Slide Number Placeholder 9"/>
          <p:cNvSpPr>
            <a:spLocks noGrp="1"/>
          </p:cNvSpPr>
          <p:nvPr>
            <p:ph type="sldNum" sz="quarter" idx="12"/>
          </p:nvPr>
        </p:nvSpPr>
        <p:spPr/>
        <p:txBody>
          <a:bodyPr/>
          <a:lstStyle/>
          <a:p>
            <a:fld id="{6D22F896-40B5-4ADD-8801-0D06FADFA095}" type="slidenum">
              <a:rPr lang="en-US" smtClean="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583436" y="2313433"/>
            <a:ext cx="4270248" cy="704087"/>
          </a:xfrm>
        </p:spPr>
        <p:txBody>
          <a:bodyPr anchor="b" anchorCtr="1">
            <a:normAutofit/>
          </a:bodyPr>
          <a:lstStyle>
            <a:lvl1pPr marL="0" indent="0" algn="ctr">
              <a:buNone/>
              <a:defRPr sz="1900" b="0" cap="all" spc="100" baseline="0">
                <a:solidFill>
                  <a:schemeClr val="accent2">
                    <a:lumMod val="75000"/>
                  </a:schemeClr>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583436" y="3143250"/>
            <a:ext cx="4270248" cy="25967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Content Placeholder 5"/>
          <p:cNvSpPr>
            <a:spLocks noGrp="1"/>
          </p:cNvSpPr>
          <p:nvPr>
            <p:ph sz="quarter" idx="4"/>
          </p:nvPr>
        </p:nvSpPr>
        <p:spPr>
          <a:xfrm>
            <a:off x="6338316" y="3143250"/>
            <a:ext cx="4253484" cy="2596776"/>
          </a:xfrm>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4"/>
          <p:cNvSpPr>
            <a:spLocks noGrp="1"/>
          </p:cNvSpPr>
          <p:nvPr>
            <p:ph type="body" sz="quarter" idx="13"/>
          </p:nvPr>
        </p:nvSpPr>
        <p:spPr>
          <a:xfrm>
            <a:off x="6338316" y="2313433"/>
            <a:ext cx="4270248" cy="704087"/>
          </a:xfrm>
        </p:spPr>
        <p:txBody>
          <a:bodyPr anchor="b" anchorCtr="1">
            <a:normAutofit/>
          </a:bodyPr>
          <a:lstStyle>
            <a:lvl1pPr marL="0" indent="0" algn="ctr">
              <a:buNone/>
              <a:defRPr sz="1900" b="0" cap="all" spc="100" baseline="0">
                <a:solidFill>
                  <a:schemeClr val="accent2">
                    <a:lumMod val="75000"/>
                  </a:schemeClr>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7" name="Date Placeholder 6"/>
          <p:cNvSpPr>
            <a:spLocks noGrp="1"/>
          </p:cNvSpPr>
          <p:nvPr>
            <p:ph type="dt" sz="half" idx="10"/>
          </p:nvPr>
        </p:nvSpPr>
        <p:spPr/>
        <p:txBody>
          <a:bodyPr/>
          <a:lstStyle/>
          <a:p>
            <a:fld id="{48A87A34-81AB-432B-8DAE-1953F412C126}" type="datetimeFigureOut">
              <a:rPr lang="en-US" smtClean="0"/>
              <a:t>11/1/19</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smtClean="0"/>
              <a:t>‹#›</a:t>
            </a:fld>
            <a:endParaRPr lang="en-US" dirty="0"/>
          </a:p>
        </p:txBody>
      </p:sp>
      <p:sp>
        <p:nvSpPr>
          <p:cNvPr id="10" name="Title 9"/>
          <p:cNvSpPr>
            <a:spLocks noGrp="1"/>
          </p:cNvSpPr>
          <p:nvPr>
            <p:ph type="title"/>
          </p:nvPr>
        </p:nvSpPr>
        <p:spPr/>
        <p:txBody>
          <a:bodyPr/>
          <a:lstStyle/>
          <a:p>
            <a:r>
              <a:rPr lang="en-US"/>
              <a:t>Click to edit Master title style</a:t>
            </a:r>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smtClean="0"/>
              <a:t>11/1/19</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smtClean="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A87A34-81AB-432B-8DAE-1953F412C126}" type="datetimeFigureOut">
              <a:rPr lang="en-US" smtClean="0"/>
              <a:t>11/1/19</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smtClean="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6" name="Rectangle 25"/>
          <p:cNvSpPr/>
          <p:nvPr/>
        </p:nvSpPr>
        <p:spPr>
          <a:xfrm>
            <a:off x="0" y="0"/>
            <a:ext cx="6096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bwMode="blackWhite">
          <a:xfrm>
            <a:off x="804672" y="2243828"/>
            <a:ext cx="4486656" cy="1141497"/>
          </a:xfrm>
          <a:solidFill>
            <a:srgbClr val="FFFFFF"/>
          </a:solidFill>
          <a:ln>
            <a:solidFill>
              <a:srgbClr val="404040"/>
            </a:solidFill>
          </a:ln>
        </p:spPr>
        <p:txBody>
          <a:bodyPr anchor="ctr" anchorCtr="1">
            <a:normAutofit/>
          </a:bodyPr>
          <a:lstStyle>
            <a:lvl1pPr>
              <a:defRPr sz="2200">
                <a:solidFill>
                  <a:srgbClr val="262626"/>
                </a:solidFill>
              </a:defRPr>
            </a:lvl1pPr>
          </a:lstStyle>
          <a:p>
            <a:r>
              <a:rPr lang="en-US"/>
              <a:t>Click to edit Master title style</a:t>
            </a:r>
            <a:endParaRPr lang="en-US" dirty="0"/>
          </a:p>
        </p:txBody>
      </p:sp>
      <p:sp>
        <p:nvSpPr>
          <p:cNvPr id="3" name="Content Placeholder 2"/>
          <p:cNvSpPr>
            <a:spLocks noGrp="1"/>
          </p:cNvSpPr>
          <p:nvPr>
            <p:ph idx="1"/>
          </p:nvPr>
        </p:nvSpPr>
        <p:spPr>
          <a:xfrm>
            <a:off x="6736080" y="804672"/>
            <a:ext cx="4815840" cy="5248656"/>
          </a:xfrm>
        </p:spPr>
        <p:txBody>
          <a:bodyPr>
            <a:normAutofit/>
          </a:bodyPr>
          <a:lstStyle>
            <a:lvl1pPr>
              <a:defRPr sz="1900">
                <a:solidFill>
                  <a:schemeClr val="tx1"/>
                </a:solidFill>
              </a:defRPr>
            </a:lvl1pPr>
            <a:lvl2pPr>
              <a:defRPr sz="1600">
                <a:solidFill>
                  <a:schemeClr val="tx1"/>
                </a:solidFill>
              </a:defRPr>
            </a:lvl2pPr>
            <a:lvl3pPr>
              <a:defRPr sz="1600">
                <a:solidFill>
                  <a:schemeClr val="tx1"/>
                </a:solidFill>
              </a:defRPr>
            </a:lvl3pPr>
            <a:lvl4pPr>
              <a:defRPr sz="1600">
                <a:solidFill>
                  <a:schemeClr val="tx1"/>
                </a:solidFill>
              </a:defRPr>
            </a:lvl4pPr>
            <a:lvl5pPr>
              <a:defRPr sz="1600">
                <a:solidFill>
                  <a:schemeClr val="tx1"/>
                </a:solidFill>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15568" y="3549918"/>
            <a:ext cx="3794760" cy="2194036"/>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Date Placeholder 8"/>
          <p:cNvSpPr>
            <a:spLocks noGrp="1"/>
          </p:cNvSpPr>
          <p:nvPr>
            <p:ph type="dt" sz="half" idx="10"/>
          </p:nvPr>
        </p:nvSpPr>
        <p:spPr/>
        <p:txBody>
          <a:bodyPr/>
          <a:lstStyle/>
          <a:p>
            <a:fld id="{48A87A34-81AB-432B-8DAE-1953F412C126}" type="datetimeFigureOut">
              <a:rPr lang="en-US" smtClean="0"/>
              <a:t>11/1/19</a:t>
            </a:fld>
            <a:endParaRPr lang="en-US" dirty="0"/>
          </a:p>
        </p:txBody>
      </p:sp>
      <p:sp>
        <p:nvSpPr>
          <p:cNvPr id="10" name="Footer Placeholder 9"/>
          <p:cNvSpPr>
            <a:spLocks noGrp="1"/>
          </p:cNvSpPr>
          <p:nvPr>
            <p:ph type="ftr" sz="quarter" idx="11"/>
          </p:nvPr>
        </p:nvSpPr>
        <p:spPr>
          <a:xfrm>
            <a:off x="804672" y="6236208"/>
            <a:ext cx="5124797" cy="320040"/>
          </a:xfrm>
        </p:spPr>
        <p:txBody>
          <a:bodyPr/>
          <a:lstStyle>
            <a:lvl1pPr>
              <a:defRPr>
                <a:solidFill>
                  <a:srgbClr val="FFFFFF">
                    <a:alpha val="70000"/>
                  </a:srgbClr>
                </a:solidFill>
              </a:defRPr>
            </a:lvl1pPr>
          </a:lstStyle>
          <a:p>
            <a:endParaRPr lang="en-US" dirty="0"/>
          </a:p>
        </p:txBody>
      </p:sp>
      <p:sp>
        <p:nvSpPr>
          <p:cNvPr id="11" name="Slide Number Placeholder 10"/>
          <p:cNvSpPr>
            <a:spLocks noGrp="1"/>
          </p:cNvSpPr>
          <p:nvPr>
            <p:ph type="sldNum" sz="quarter" idx="12"/>
          </p:nvPr>
        </p:nvSpPr>
        <p:spPr/>
        <p:txBody>
          <a:bodyPr/>
          <a:lstStyle/>
          <a:p>
            <a:fld id="{6D22F896-40B5-4ADD-8801-0D06FADFA095}" type="slidenum">
              <a:rPr lang="en-US" smtClean="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8" name="Rectangle 17"/>
          <p:cNvSpPr/>
          <p:nvPr/>
        </p:nvSpPr>
        <p:spPr>
          <a:xfrm>
            <a:off x="0" y="0"/>
            <a:ext cx="6095999"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bwMode="blackWhite">
          <a:xfrm>
            <a:off x="808523" y="2243828"/>
            <a:ext cx="4494998" cy="1134640"/>
          </a:xfrm>
          <a:solidFill>
            <a:srgbClr val="FFFFFF"/>
          </a:solidFill>
          <a:ln>
            <a:solidFill>
              <a:srgbClr val="404040"/>
            </a:solidFill>
          </a:ln>
        </p:spPr>
        <p:txBody>
          <a:bodyPr anchor="ctr" anchorCtr="1">
            <a:noAutofit/>
          </a:bodyPr>
          <a:lstStyle>
            <a:lvl1pPr>
              <a:defRPr sz="2200">
                <a:solidFill>
                  <a:srgbClr val="262626"/>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6095999" y="0"/>
            <a:ext cx="6102097" cy="6858000"/>
          </a:xfrm>
          <a:solidFill>
            <a:schemeClr val="bg1">
              <a:lumMod val="75000"/>
            </a:schemeClr>
          </a:solidFill>
        </p:spPr>
        <p:txBody>
          <a:bodyPr anchor="t"/>
          <a:lstStyle>
            <a:lvl1pPr marL="0" indent="0">
              <a:buNone/>
              <a:defRPr sz="3200">
                <a:solidFill>
                  <a:schemeClr val="bg1">
                    <a:lumMod val="85000"/>
                    <a:lumOff val="15000"/>
                  </a:schemeClr>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Drag picture to placeholder or click icon to add</a:t>
            </a:r>
            <a:endParaRPr lang="en-US" dirty="0"/>
          </a:p>
        </p:txBody>
      </p:sp>
      <p:sp>
        <p:nvSpPr>
          <p:cNvPr id="4" name="Text Placeholder 3"/>
          <p:cNvSpPr>
            <a:spLocks noGrp="1"/>
          </p:cNvSpPr>
          <p:nvPr>
            <p:ph type="body" sz="half" idx="2"/>
          </p:nvPr>
        </p:nvSpPr>
        <p:spPr>
          <a:xfrm>
            <a:off x="1115568" y="3549918"/>
            <a:ext cx="3794760" cy="2194037"/>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8" name="Date Placeholder 7"/>
          <p:cNvSpPr>
            <a:spLocks noGrp="1"/>
          </p:cNvSpPr>
          <p:nvPr>
            <p:ph type="dt" sz="half" idx="10"/>
          </p:nvPr>
        </p:nvSpPr>
        <p:spPr/>
        <p:txBody>
          <a:bodyPr/>
          <a:lstStyle>
            <a:lvl1pPr>
              <a:defRPr>
                <a:solidFill>
                  <a:srgbClr val="FFFFFF"/>
                </a:solidFill>
                <a:effectLst>
                  <a:outerShdw blurRad="50800" dist="38100" dir="2700000" algn="tl" rotWithShape="0">
                    <a:prstClr val="black">
                      <a:alpha val="43000"/>
                    </a:prstClr>
                  </a:outerShdw>
                </a:effectLst>
              </a:defRPr>
            </a:lvl1pPr>
          </a:lstStyle>
          <a:p>
            <a:fld id="{48A87A34-81AB-432B-8DAE-1953F412C126}" type="datetimeFigureOut">
              <a:rPr lang="en-US" smtClean="0"/>
              <a:t>11/1/19</a:t>
            </a:fld>
            <a:endParaRPr lang="en-US" dirty="0"/>
          </a:p>
        </p:txBody>
      </p:sp>
      <p:sp>
        <p:nvSpPr>
          <p:cNvPr id="9" name="Footer Placeholder 8"/>
          <p:cNvSpPr>
            <a:spLocks noGrp="1"/>
          </p:cNvSpPr>
          <p:nvPr>
            <p:ph type="ftr" sz="quarter" idx="11"/>
          </p:nvPr>
        </p:nvSpPr>
        <p:spPr>
          <a:xfrm>
            <a:off x="804672" y="6236208"/>
            <a:ext cx="5124797" cy="320040"/>
          </a:xfrm>
        </p:spPr>
        <p:txBody>
          <a:bodyPr/>
          <a:lstStyle>
            <a:lvl1pPr>
              <a:defRPr>
                <a:solidFill>
                  <a:srgbClr val="FFFFFF">
                    <a:alpha val="70000"/>
                  </a:srgbClr>
                </a:solidFill>
              </a:defRPr>
            </a:lvl1pPr>
          </a:lstStyle>
          <a:p>
            <a:endParaRPr lang="en-US" dirty="0"/>
          </a:p>
        </p:txBody>
      </p:sp>
      <p:sp>
        <p:nvSpPr>
          <p:cNvPr id="10" name="Slide Number Placeholder 9"/>
          <p:cNvSpPr>
            <a:spLocks noGrp="1"/>
          </p:cNvSpPr>
          <p:nvPr>
            <p:ph type="sldNum" sz="quarter" idx="12"/>
          </p:nvPr>
        </p:nvSpPr>
        <p:spPr/>
        <p:txBody>
          <a:bodyPr/>
          <a:lstStyle/>
          <a:p>
            <a:fld id="{6D22F896-40B5-4ADD-8801-0D06FADFA095}" type="slidenum">
              <a:rPr lang="en-US" smtClean="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11/1/19</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53112" y="937260"/>
            <a:ext cx="1298608" cy="498348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2231136" y="937260"/>
            <a:ext cx="6198489" cy="498348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11/1/19</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bwMode="black">
          <a:xfrm>
            <a:off x="2231136" y="964692"/>
            <a:ext cx="7729728" cy="1188720"/>
          </a:xfrm>
          <a:prstGeom prst="rect">
            <a:avLst/>
          </a:prstGeom>
          <a:solidFill>
            <a:srgbClr val="FFFFFF"/>
          </a:solidFill>
          <a:ln w="31750" cap="sq">
            <a:solidFill>
              <a:srgbClr val="404040"/>
            </a:solidFill>
            <a:miter lim="800000"/>
          </a:ln>
        </p:spPr>
        <p:txBody>
          <a:bodyPr vert="horz" lIns="182880" tIns="182880" rIns="182880" bIns="18288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2231136" y="2638044"/>
            <a:ext cx="7729728" cy="3101983"/>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7821429" y="6238816"/>
            <a:ext cx="2753746" cy="323968"/>
          </a:xfrm>
          <a:prstGeom prst="rect">
            <a:avLst/>
          </a:prstGeom>
        </p:spPr>
        <p:txBody>
          <a:bodyPr vert="horz" lIns="91440" tIns="45720" rIns="91440" bIns="45720" rtlCol="0" anchor="ctr"/>
          <a:lstStyle>
            <a:lvl1pPr algn="r">
              <a:defRPr sz="1050">
                <a:solidFill>
                  <a:schemeClr val="tx1">
                    <a:alpha val="70000"/>
                  </a:schemeClr>
                </a:solidFill>
              </a:defRPr>
            </a:lvl1pPr>
          </a:lstStyle>
          <a:p>
            <a:fld id="{48A87A34-81AB-432B-8DAE-1953F412C126}" type="datetimeFigureOut">
              <a:rPr lang="en-US" smtClean="0"/>
              <a:pPr/>
              <a:t>11/1/19</a:t>
            </a:fld>
            <a:endParaRPr lang="en-US" dirty="0"/>
          </a:p>
        </p:txBody>
      </p:sp>
      <p:sp>
        <p:nvSpPr>
          <p:cNvPr id="5" name="Footer Placeholder 4"/>
          <p:cNvSpPr>
            <a:spLocks noGrp="1"/>
          </p:cNvSpPr>
          <p:nvPr>
            <p:ph type="ftr" sz="quarter" idx="3"/>
          </p:nvPr>
        </p:nvSpPr>
        <p:spPr>
          <a:xfrm>
            <a:off x="1600200" y="6236208"/>
            <a:ext cx="5901189" cy="320040"/>
          </a:xfrm>
          <a:prstGeom prst="rect">
            <a:avLst/>
          </a:prstGeom>
        </p:spPr>
        <p:txBody>
          <a:bodyPr vert="horz" lIns="91440" tIns="45720" rIns="91440" bIns="45720" rtlCol="0" anchor="ctr"/>
          <a:lstStyle>
            <a:lvl1pPr algn="l">
              <a:defRPr sz="1050">
                <a:solidFill>
                  <a:schemeClr val="tx1">
                    <a:alpha val="70000"/>
                  </a:schemeClr>
                </a:solidFill>
              </a:defRPr>
            </a:lvl1pPr>
          </a:lstStyle>
          <a:p>
            <a:endParaRPr lang="en-US" dirty="0"/>
          </a:p>
        </p:txBody>
      </p:sp>
      <p:sp>
        <p:nvSpPr>
          <p:cNvPr id="6" name="Slide Number Placeholder 5"/>
          <p:cNvSpPr>
            <a:spLocks noGrp="1"/>
          </p:cNvSpPr>
          <p:nvPr>
            <p:ph type="sldNum" sz="quarter" idx="4"/>
          </p:nvPr>
        </p:nvSpPr>
        <p:spPr>
          <a:xfrm>
            <a:off x="10758922" y="6217920"/>
            <a:ext cx="365760" cy="365760"/>
          </a:xfrm>
          <a:prstGeom prst="ellipse">
            <a:avLst/>
          </a:prstGeom>
          <a:solidFill>
            <a:srgbClr val="1D1D1D">
              <a:alpha val="70000"/>
            </a:srgbClr>
          </a:solidFill>
        </p:spPr>
        <p:txBody>
          <a:bodyPr vert="horz" lIns="18288" tIns="45720" rIns="18288" bIns="45720" rtlCol="0" anchor="ctr">
            <a:noAutofit/>
          </a:bodyPr>
          <a:lstStyle>
            <a:lvl1pPr algn="ctr">
              <a:defRPr sz="1100" spc="0" baseline="0">
                <a:solidFill>
                  <a:srgbClr val="FFFFFF"/>
                </a:solidFill>
              </a:defRPr>
            </a:lvl1p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40749412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defTabSz="914400" rtl="0" eaLnBrk="1" latinLnBrk="0" hangingPunct="1">
        <a:lnSpc>
          <a:spcPct val="90000"/>
        </a:lnSpc>
        <a:spcBef>
          <a:spcPct val="0"/>
        </a:spcBef>
        <a:buNone/>
        <a:defRPr sz="2800" kern="1200" cap="all" spc="200" baseline="0">
          <a:solidFill>
            <a:srgbClr val="262626"/>
          </a:solidFill>
          <a:latin typeface="+mj-lt"/>
          <a:ea typeface="+mj-ea"/>
          <a:cs typeface="+mj-cs"/>
        </a:defRPr>
      </a:lvl1pPr>
    </p:titleStyle>
    <p:body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1800" kern="1200">
          <a:solidFill>
            <a:schemeClr val="tx1">
              <a:lumMod val="85000"/>
              <a:lumOff val="15000"/>
            </a:schemeClr>
          </a:solidFill>
          <a:latin typeface="+mn-lt"/>
          <a:ea typeface="+mn-ea"/>
          <a:cs typeface="+mn-cs"/>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5pPr>
      <a:lvl6pPr marL="131286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431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82775"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3" Type="http://schemas.openxmlformats.org/officeDocument/2006/relationships/hyperlink" Target="https://www.nationalgeographic.org/encyclopedia/domestication/" TargetMode="External"/><Relationship Id="rId2" Type="http://schemas.openxmlformats.org/officeDocument/2006/relationships/notesSlide" Target="../notesSlides/notesSlide3.xml"/><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Welfare and Breeding</a:t>
            </a:r>
          </a:p>
        </p:txBody>
      </p:sp>
      <p:sp>
        <p:nvSpPr>
          <p:cNvPr id="3" name="Subtitle 2"/>
          <p:cNvSpPr>
            <a:spLocks noGrp="1"/>
          </p:cNvSpPr>
          <p:nvPr>
            <p:ph type="subTitle" idx="1"/>
          </p:nvPr>
        </p:nvSpPr>
        <p:spPr/>
        <p:txBody>
          <a:bodyPr/>
          <a:lstStyle/>
          <a:p>
            <a:r>
              <a:rPr lang="en-US" dirty="0"/>
              <a:t>Domestication</a:t>
            </a:r>
          </a:p>
        </p:txBody>
      </p:sp>
    </p:spTree>
    <p:extLst>
      <p:ext uri="{BB962C8B-B14F-4D97-AF65-F5344CB8AC3E}">
        <p14:creationId xmlns:p14="http://schemas.microsoft.com/office/powerpoint/2010/main" val="12764251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accent3">
              <a:lumMod val="60000"/>
              <a:lumOff val="40000"/>
            </a:schemeClr>
          </a:solidFill>
        </p:spPr>
        <p:txBody>
          <a:bodyPr/>
          <a:lstStyle/>
          <a:p>
            <a:r>
              <a:rPr lang="en-US" dirty="0"/>
              <a:t>recap</a:t>
            </a:r>
          </a:p>
        </p:txBody>
      </p:sp>
      <p:sp>
        <p:nvSpPr>
          <p:cNvPr id="4" name="Content Placeholder 3"/>
          <p:cNvSpPr>
            <a:spLocks noGrp="1"/>
          </p:cNvSpPr>
          <p:nvPr>
            <p:ph idx="1"/>
          </p:nvPr>
        </p:nvSpPr>
        <p:spPr/>
        <p:txBody>
          <a:bodyPr/>
          <a:lstStyle/>
          <a:p>
            <a:r>
              <a:rPr lang="en-GB" dirty="0"/>
              <a:t>Answer the following points individually:</a:t>
            </a:r>
          </a:p>
          <a:p>
            <a:pPr marL="457200" indent="-457200">
              <a:buFont typeface="+mj-lt"/>
              <a:buAutoNum type="arabicPeriod"/>
            </a:pPr>
            <a:r>
              <a:rPr lang="en-GB" dirty="0"/>
              <a:t>Describe how </a:t>
            </a:r>
            <a:r>
              <a:rPr lang="en-GB" dirty="0" err="1"/>
              <a:t>Lamarcks</a:t>
            </a:r>
            <a:r>
              <a:rPr lang="en-GB" dirty="0"/>
              <a:t> theory of evolution differs from </a:t>
            </a:r>
            <a:r>
              <a:rPr lang="en-GB" dirty="0" err="1"/>
              <a:t>Darwins</a:t>
            </a:r>
            <a:r>
              <a:rPr lang="en-GB" dirty="0"/>
              <a:t>?</a:t>
            </a:r>
          </a:p>
          <a:p>
            <a:pPr marL="457200" indent="-457200">
              <a:buFont typeface="+mj-lt"/>
              <a:buAutoNum type="arabicPeriod"/>
            </a:pPr>
            <a:r>
              <a:rPr lang="en-GB" dirty="0"/>
              <a:t>What is the difference between macro and micro evolution?</a:t>
            </a:r>
          </a:p>
          <a:p>
            <a:pPr marL="457200" indent="-457200">
              <a:buFont typeface="+mj-lt"/>
              <a:buAutoNum type="arabicPeriod"/>
            </a:pPr>
            <a:r>
              <a:rPr lang="en-GB" dirty="0"/>
              <a:t>What are the six characteristics of genetics?</a:t>
            </a:r>
          </a:p>
          <a:p>
            <a:pPr marL="457200" indent="-457200">
              <a:buFont typeface="+mj-lt"/>
              <a:buAutoNum type="arabicPeriod"/>
            </a:pPr>
            <a:r>
              <a:rPr lang="en-GB" dirty="0"/>
              <a:t>List three examples of a macro evolution.</a:t>
            </a:r>
          </a:p>
          <a:p>
            <a:pPr marL="457200" indent="-457200">
              <a:buFont typeface="+mj-lt"/>
              <a:buAutoNum type="arabicPeriod"/>
            </a:pPr>
            <a:r>
              <a:rPr lang="en-GB" dirty="0"/>
              <a:t>Describes two examples of a micro evolution.</a:t>
            </a:r>
          </a:p>
          <a:p>
            <a:pPr marL="457200" indent="-457200">
              <a:buFont typeface="+mj-lt"/>
              <a:buAutoNum type="arabicPeriod"/>
            </a:pPr>
            <a:endParaRPr lang="en-GB" dirty="0"/>
          </a:p>
        </p:txBody>
      </p:sp>
      <p:sp>
        <p:nvSpPr>
          <p:cNvPr id="5" name="Text Placeholder 4"/>
          <p:cNvSpPr>
            <a:spLocks noGrp="1"/>
          </p:cNvSpPr>
          <p:nvPr>
            <p:ph type="body" sz="half" idx="2"/>
          </p:nvPr>
        </p:nvSpPr>
        <p:spPr/>
        <p:txBody>
          <a:bodyPr>
            <a:normAutofit fontScale="85000" lnSpcReduction="20000"/>
          </a:bodyPr>
          <a:lstStyle/>
          <a:p>
            <a:pPr lvl="0" algn="l" eaLnBrk="0" fontAlgn="base" hangingPunct="0">
              <a:spcBef>
                <a:spcPct val="0"/>
              </a:spcBef>
              <a:spcAft>
                <a:spcPct val="0"/>
              </a:spcAft>
              <a:buClrTx/>
            </a:pPr>
            <a:r>
              <a:rPr lang="en-GB" altLang="en-US" sz="1600" dirty="0">
                <a:solidFill>
                  <a:schemeClr val="tx1"/>
                </a:solidFill>
                <a:latin typeface="Arial" panose="020B0604020202020204" pitchFamily="34" charset="0"/>
                <a:ea typeface="Calibri" panose="020F0502020204030204" pitchFamily="34" charset="0"/>
                <a:cs typeface="Arial" panose="020B0604020202020204" pitchFamily="34" charset="0"/>
              </a:rPr>
              <a:t>Investigate how we have selectively bred animals over several generations.</a:t>
            </a:r>
            <a:r>
              <a:rPr lang="en-GB" altLang="en-US" sz="1600" dirty="0">
                <a:solidFill>
                  <a:schemeClr val="tx1"/>
                </a:solidFill>
                <a:latin typeface="Arial" panose="020B0604020202020204" pitchFamily="34" charset="0"/>
              </a:rPr>
              <a:t> </a:t>
            </a:r>
          </a:p>
          <a:p>
            <a:pPr lvl="0" algn="l" eaLnBrk="0" fontAlgn="base" hangingPunct="0">
              <a:spcBef>
                <a:spcPct val="0"/>
              </a:spcBef>
              <a:spcAft>
                <a:spcPct val="0"/>
              </a:spcAft>
              <a:buClrTx/>
            </a:pPr>
            <a:r>
              <a:rPr lang="en-GB" altLang="en-US" sz="1600" dirty="0">
                <a:solidFill>
                  <a:schemeClr val="tx1"/>
                </a:solidFill>
                <a:latin typeface="Arial" panose="020B0604020202020204" pitchFamily="34" charset="0"/>
              </a:rPr>
              <a:t>Recap the topic so far looking at example questions.</a:t>
            </a:r>
          </a:p>
          <a:p>
            <a:pPr lvl="0" algn="l" eaLnBrk="0" fontAlgn="base" hangingPunct="0">
              <a:spcBef>
                <a:spcPct val="0"/>
              </a:spcBef>
              <a:spcAft>
                <a:spcPct val="0"/>
              </a:spcAft>
              <a:buClrTx/>
            </a:pPr>
            <a:r>
              <a:rPr lang="en-GB" altLang="en-US" sz="1600" dirty="0">
                <a:solidFill>
                  <a:schemeClr val="tx1"/>
                </a:solidFill>
                <a:latin typeface="Arial" panose="020B0604020202020204" pitchFamily="34" charset="0"/>
              </a:rPr>
              <a:t>Look at the different  forms of domestic animal, their distribution and the processes that led to this.</a:t>
            </a:r>
          </a:p>
          <a:p>
            <a:pPr lvl="0" algn="l" eaLnBrk="0" fontAlgn="base" hangingPunct="0">
              <a:spcBef>
                <a:spcPct val="0"/>
              </a:spcBef>
              <a:spcAft>
                <a:spcPct val="0"/>
              </a:spcAft>
              <a:buClrTx/>
            </a:pPr>
            <a:r>
              <a:rPr lang="en-GB" altLang="en-US" sz="1600" dirty="0">
                <a:solidFill>
                  <a:schemeClr val="tx1"/>
                </a:solidFill>
                <a:latin typeface="Arial" panose="020B0604020202020204" pitchFamily="34" charset="0"/>
              </a:rPr>
              <a:t>Understand how animals form relationships with other species. </a:t>
            </a:r>
          </a:p>
          <a:p>
            <a:pPr lvl="0" algn="l" eaLnBrk="0" fontAlgn="base" hangingPunct="0">
              <a:spcBef>
                <a:spcPct val="0"/>
              </a:spcBef>
              <a:spcAft>
                <a:spcPct val="0"/>
              </a:spcAft>
              <a:buClrTx/>
            </a:pPr>
            <a:r>
              <a:rPr lang="en-GB" altLang="en-US" sz="1600" dirty="0">
                <a:solidFill>
                  <a:schemeClr val="tx1"/>
                </a:solidFill>
                <a:latin typeface="Arial" panose="020B0604020202020204" pitchFamily="34" charset="0"/>
              </a:rPr>
              <a:t>Identify what makes an animal a candidate for domestication.</a:t>
            </a:r>
          </a:p>
          <a:p>
            <a:pPr lvl="0" algn="l" eaLnBrk="0" fontAlgn="base" hangingPunct="0">
              <a:spcBef>
                <a:spcPct val="0"/>
              </a:spcBef>
              <a:spcAft>
                <a:spcPct val="0"/>
              </a:spcAft>
              <a:buClrTx/>
            </a:pPr>
            <a:endParaRPr lang="en-GB" altLang="en-US" sz="1600" dirty="0">
              <a:solidFill>
                <a:schemeClr val="tx1"/>
              </a:solidFill>
              <a:latin typeface="Arial" panose="020B0604020202020204" pitchFamily="34" charset="0"/>
            </a:endParaRPr>
          </a:p>
        </p:txBody>
      </p:sp>
      <p:sp>
        <p:nvSpPr>
          <p:cNvPr id="6" name="Title 1">
            <a:extLst>
              <a:ext uri="{FF2B5EF4-FFF2-40B4-BE49-F238E27FC236}">
                <a16:creationId xmlns:a16="http://schemas.microsoft.com/office/drawing/2014/main" id="{58382D98-7682-0D43-9570-FDE7CDE74329}"/>
              </a:ext>
            </a:extLst>
          </p:cNvPr>
          <p:cNvSpPr txBox="1">
            <a:spLocks/>
          </p:cNvSpPr>
          <p:nvPr/>
        </p:nvSpPr>
        <p:spPr bwMode="blackWhite">
          <a:xfrm>
            <a:off x="804672" y="5743954"/>
            <a:ext cx="4486656" cy="1141497"/>
          </a:xfrm>
          <a:prstGeom prst="rect">
            <a:avLst/>
          </a:prstGeom>
          <a:solidFill>
            <a:schemeClr val="accent1">
              <a:lumMod val="60000"/>
              <a:lumOff val="40000"/>
            </a:schemeClr>
          </a:solidFill>
          <a:ln w="31750" cap="sq">
            <a:solidFill>
              <a:srgbClr val="404040"/>
            </a:solidFill>
            <a:miter lim="800000"/>
          </a:ln>
        </p:spPr>
        <p:txBody>
          <a:bodyPr vert="horz" lIns="182880" tIns="182880" rIns="182880" bIns="182880" rtlCol="0" anchor="ctr" anchorCtr="1">
            <a:normAutofit fontScale="92500" lnSpcReduction="10000"/>
          </a:bodyPr>
          <a:lstStyle>
            <a:lvl1pPr algn="ctr" defTabSz="914400" rtl="0" eaLnBrk="1" latinLnBrk="0" hangingPunct="1">
              <a:lnSpc>
                <a:spcPct val="90000"/>
              </a:lnSpc>
              <a:spcBef>
                <a:spcPct val="0"/>
              </a:spcBef>
              <a:buNone/>
              <a:defRPr sz="2200" kern="1200" cap="all" spc="200" baseline="0">
                <a:solidFill>
                  <a:srgbClr val="262626"/>
                </a:solidFill>
                <a:latin typeface="+mj-lt"/>
                <a:ea typeface="+mj-ea"/>
                <a:cs typeface="+mj-cs"/>
              </a:defRPr>
            </a:lvl1pPr>
          </a:lstStyle>
          <a:p>
            <a:r>
              <a:rPr lang="en-US" dirty="0"/>
              <a:t>Boost Me: </a:t>
            </a:r>
            <a:r>
              <a:rPr lang="en-GB" dirty="0"/>
              <a:t>Structures of debate and genetic ratios. </a:t>
            </a:r>
            <a:endParaRPr lang="en-US" dirty="0"/>
          </a:p>
        </p:txBody>
      </p:sp>
    </p:spTree>
    <p:extLst>
      <p:ext uri="{BB962C8B-B14F-4D97-AF65-F5344CB8AC3E}">
        <p14:creationId xmlns:p14="http://schemas.microsoft.com/office/powerpoint/2010/main" val="203795392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solidFill>
            <a:srgbClr val="00B0F0"/>
          </a:solidFill>
        </p:spPr>
        <p:txBody>
          <a:bodyPr/>
          <a:lstStyle/>
          <a:p>
            <a:r>
              <a:rPr lang="en-GB" dirty="0"/>
              <a:t>4 levels of domestication</a:t>
            </a:r>
          </a:p>
        </p:txBody>
      </p:sp>
      <p:sp>
        <p:nvSpPr>
          <p:cNvPr id="5" name="Text Placeholder 4"/>
          <p:cNvSpPr>
            <a:spLocks noGrp="1"/>
          </p:cNvSpPr>
          <p:nvPr>
            <p:ph type="body" sz="half" idx="2"/>
          </p:nvPr>
        </p:nvSpPr>
        <p:spPr/>
        <p:txBody>
          <a:bodyPr>
            <a:normAutofit fontScale="92500" lnSpcReduction="10000"/>
          </a:bodyPr>
          <a:lstStyle/>
          <a:p>
            <a:pPr lvl="0" algn="l" eaLnBrk="0" fontAlgn="base" hangingPunct="0">
              <a:spcBef>
                <a:spcPct val="0"/>
              </a:spcBef>
              <a:spcAft>
                <a:spcPct val="0"/>
              </a:spcAft>
              <a:buClrTx/>
            </a:pPr>
            <a:r>
              <a:rPr lang="en-GB" altLang="en-US" sz="1400" dirty="0">
                <a:solidFill>
                  <a:schemeClr val="tx1"/>
                </a:solidFill>
                <a:latin typeface="Arial" panose="020B0604020202020204" pitchFamily="34" charset="0"/>
                <a:ea typeface="Calibri" panose="020F0502020204030204" pitchFamily="34" charset="0"/>
                <a:cs typeface="Arial" panose="020B0604020202020204" pitchFamily="34" charset="0"/>
              </a:rPr>
              <a:t>Investigate how we have selectively bred animals over several generations.</a:t>
            </a:r>
            <a:r>
              <a:rPr lang="en-GB" altLang="en-US" sz="1400" dirty="0">
                <a:solidFill>
                  <a:schemeClr val="tx1"/>
                </a:solidFill>
                <a:latin typeface="Arial" panose="020B0604020202020204" pitchFamily="34" charset="0"/>
              </a:rPr>
              <a:t> </a:t>
            </a:r>
          </a:p>
          <a:p>
            <a:pPr lvl="0" algn="l" eaLnBrk="0" fontAlgn="base" hangingPunct="0">
              <a:spcBef>
                <a:spcPct val="0"/>
              </a:spcBef>
              <a:spcAft>
                <a:spcPct val="0"/>
              </a:spcAft>
              <a:buClrTx/>
            </a:pPr>
            <a:r>
              <a:rPr lang="en-GB" altLang="en-US" sz="1400" dirty="0">
                <a:solidFill>
                  <a:schemeClr val="tx1"/>
                </a:solidFill>
                <a:latin typeface="Arial" panose="020B0604020202020204" pitchFamily="34" charset="0"/>
              </a:rPr>
              <a:t>Recap the topic so far looking at example questions.</a:t>
            </a:r>
          </a:p>
          <a:p>
            <a:pPr lvl="0" algn="l" eaLnBrk="0" fontAlgn="base" hangingPunct="0">
              <a:spcBef>
                <a:spcPct val="0"/>
              </a:spcBef>
              <a:spcAft>
                <a:spcPct val="0"/>
              </a:spcAft>
              <a:buClrTx/>
            </a:pPr>
            <a:r>
              <a:rPr lang="en-GB" altLang="en-US" sz="1400" dirty="0">
                <a:solidFill>
                  <a:schemeClr val="tx1"/>
                </a:solidFill>
                <a:latin typeface="Arial" panose="020B0604020202020204" pitchFamily="34" charset="0"/>
              </a:rPr>
              <a:t>Look at the different forms of domestic animal, their distribution and the processes that led to this.</a:t>
            </a:r>
          </a:p>
          <a:p>
            <a:pPr lvl="0" algn="l" eaLnBrk="0" fontAlgn="base" hangingPunct="0">
              <a:spcBef>
                <a:spcPct val="0"/>
              </a:spcBef>
              <a:spcAft>
                <a:spcPct val="0"/>
              </a:spcAft>
              <a:buClrTx/>
            </a:pPr>
            <a:r>
              <a:rPr lang="en-GB" altLang="en-US" sz="1400" dirty="0">
                <a:solidFill>
                  <a:schemeClr val="tx1"/>
                </a:solidFill>
                <a:latin typeface="Arial" panose="020B0604020202020204" pitchFamily="34" charset="0"/>
              </a:rPr>
              <a:t>Understand how animals form relationships with other species. </a:t>
            </a:r>
          </a:p>
          <a:p>
            <a:pPr lvl="0" algn="l" eaLnBrk="0" fontAlgn="base" hangingPunct="0">
              <a:spcBef>
                <a:spcPct val="0"/>
              </a:spcBef>
              <a:spcAft>
                <a:spcPct val="0"/>
              </a:spcAft>
              <a:buClrTx/>
            </a:pPr>
            <a:r>
              <a:rPr lang="en-GB" altLang="en-US" sz="1400" dirty="0">
                <a:solidFill>
                  <a:schemeClr val="tx1"/>
                </a:solidFill>
                <a:latin typeface="Arial" panose="020B0604020202020204" pitchFamily="34" charset="0"/>
              </a:rPr>
              <a:t>Identify what makes an animal a candidate for domestication.</a:t>
            </a:r>
          </a:p>
        </p:txBody>
      </p:sp>
      <p:sp>
        <p:nvSpPr>
          <p:cNvPr id="6" name="Title 1">
            <a:extLst>
              <a:ext uri="{FF2B5EF4-FFF2-40B4-BE49-F238E27FC236}">
                <a16:creationId xmlns:a16="http://schemas.microsoft.com/office/drawing/2014/main" id="{D3C61E50-8AC5-8D41-B342-07440162F683}"/>
              </a:ext>
            </a:extLst>
          </p:cNvPr>
          <p:cNvSpPr txBox="1">
            <a:spLocks/>
          </p:cNvSpPr>
          <p:nvPr/>
        </p:nvSpPr>
        <p:spPr bwMode="blackWhite">
          <a:xfrm>
            <a:off x="804672" y="5743954"/>
            <a:ext cx="4486656" cy="1141497"/>
          </a:xfrm>
          <a:prstGeom prst="rect">
            <a:avLst/>
          </a:prstGeom>
          <a:solidFill>
            <a:schemeClr val="accent1">
              <a:lumMod val="60000"/>
              <a:lumOff val="40000"/>
            </a:schemeClr>
          </a:solidFill>
          <a:ln w="31750" cap="sq">
            <a:solidFill>
              <a:srgbClr val="404040"/>
            </a:solidFill>
            <a:miter lim="800000"/>
          </a:ln>
        </p:spPr>
        <p:txBody>
          <a:bodyPr vert="horz" lIns="182880" tIns="182880" rIns="182880" bIns="182880" rtlCol="0" anchor="ctr" anchorCtr="1">
            <a:normAutofit fontScale="92500" lnSpcReduction="10000"/>
          </a:bodyPr>
          <a:lstStyle>
            <a:lvl1pPr algn="ctr" defTabSz="914400" rtl="0" eaLnBrk="1" latinLnBrk="0" hangingPunct="1">
              <a:lnSpc>
                <a:spcPct val="90000"/>
              </a:lnSpc>
              <a:spcBef>
                <a:spcPct val="0"/>
              </a:spcBef>
              <a:buNone/>
              <a:defRPr sz="2200" kern="1200" cap="all" spc="200" baseline="0">
                <a:solidFill>
                  <a:srgbClr val="262626"/>
                </a:solidFill>
                <a:latin typeface="+mj-lt"/>
                <a:ea typeface="+mj-ea"/>
                <a:cs typeface="+mj-cs"/>
              </a:defRPr>
            </a:lvl1pPr>
          </a:lstStyle>
          <a:p>
            <a:r>
              <a:rPr lang="en-US" dirty="0"/>
              <a:t>Boost Me: </a:t>
            </a:r>
            <a:r>
              <a:rPr lang="en-GB" dirty="0"/>
              <a:t>Structures of debate and genetic ratios. </a:t>
            </a:r>
            <a:endParaRPr lang="en-US" dirty="0"/>
          </a:p>
        </p:txBody>
      </p:sp>
      <p:sp>
        <p:nvSpPr>
          <p:cNvPr id="11" name="Oval 10"/>
          <p:cNvSpPr/>
          <p:nvPr/>
        </p:nvSpPr>
        <p:spPr>
          <a:xfrm>
            <a:off x="4003040" y="72391"/>
            <a:ext cx="2052228" cy="2052228"/>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solidFill>
                <a:srgbClr val="002060"/>
              </a:solidFill>
            </a:endParaRPr>
          </a:p>
        </p:txBody>
      </p:sp>
      <p:sp>
        <p:nvSpPr>
          <p:cNvPr id="2" name="Content Placeholder 1">
            <a:extLst>
              <a:ext uri="{FF2B5EF4-FFF2-40B4-BE49-F238E27FC236}">
                <a16:creationId xmlns:a16="http://schemas.microsoft.com/office/drawing/2014/main" id="{3BC87C80-E0B3-CE4B-A831-E9FE219CD211}"/>
              </a:ext>
            </a:extLst>
          </p:cNvPr>
          <p:cNvSpPr>
            <a:spLocks noGrp="1"/>
          </p:cNvSpPr>
          <p:nvPr>
            <p:ph idx="1"/>
          </p:nvPr>
        </p:nvSpPr>
        <p:spPr/>
        <p:txBody>
          <a:bodyPr>
            <a:normAutofit/>
          </a:bodyPr>
          <a:lstStyle/>
          <a:p>
            <a:endParaRPr lang="en-US" dirty="0"/>
          </a:p>
          <a:p>
            <a:pPr lvl="1"/>
            <a:endParaRPr lang="en-US" dirty="0"/>
          </a:p>
        </p:txBody>
      </p:sp>
      <p:sp>
        <p:nvSpPr>
          <p:cNvPr id="12" name="TextBox 11">
            <a:extLst>
              <a:ext uri="{FF2B5EF4-FFF2-40B4-BE49-F238E27FC236}">
                <a16:creationId xmlns:a16="http://schemas.microsoft.com/office/drawing/2014/main" id="{6560F3B4-4575-7841-9CA7-A0612993FB40}"/>
              </a:ext>
            </a:extLst>
          </p:cNvPr>
          <p:cNvSpPr txBox="1"/>
          <p:nvPr/>
        </p:nvSpPr>
        <p:spPr>
          <a:xfrm>
            <a:off x="6136734" y="12680"/>
            <a:ext cx="6055266" cy="5262979"/>
          </a:xfrm>
          <a:prstGeom prst="rect">
            <a:avLst/>
          </a:prstGeom>
          <a:noFill/>
        </p:spPr>
        <p:txBody>
          <a:bodyPr wrap="square" rtlCol="0">
            <a:spAutoFit/>
          </a:bodyPr>
          <a:lstStyle/>
          <a:p>
            <a:pPr marL="285750" indent="-285750">
              <a:buFont typeface="Arial" panose="020B0604020202020204" pitchFamily="34" charset="0"/>
              <a:buChar char="•"/>
            </a:pPr>
            <a:r>
              <a:rPr lang="en-US" sz="2400" dirty="0"/>
              <a:t>4 levels of domestication: </a:t>
            </a:r>
          </a:p>
          <a:p>
            <a:pPr marL="285750" indent="-285750">
              <a:buFont typeface="Arial" panose="020B0604020202020204" pitchFamily="34" charset="0"/>
              <a:buChar char="•"/>
            </a:pPr>
            <a:r>
              <a:rPr lang="en-US" sz="2400" dirty="0"/>
              <a:t>Of the below characteristics define what each term is and describe how you would identify this in the animal.</a:t>
            </a:r>
          </a:p>
          <a:p>
            <a:pPr marL="742950" lvl="1" indent="-285750">
              <a:buFont typeface="Arial" panose="020B0604020202020204" pitchFamily="34" charset="0"/>
              <a:buChar char="•"/>
            </a:pPr>
            <a:r>
              <a:rPr lang="en-US" sz="2400" dirty="0"/>
              <a:t>Wild</a:t>
            </a:r>
          </a:p>
          <a:p>
            <a:pPr marL="742950" lvl="1" indent="-285750">
              <a:buFont typeface="Arial" panose="020B0604020202020204" pitchFamily="34" charset="0"/>
              <a:buChar char="•"/>
            </a:pPr>
            <a:r>
              <a:rPr lang="en-US" sz="2400" dirty="0"/>
              <a:t>Captive</a:t>
            </a:r>
          </a:p>
          <a:p>
            <a:pPr marL="742950" lvl="1" indent="-285750">
              <a:buFont typeface="Arial" panose="020B0604020202020204" pitchFamily="34" charset="0"/>
              <a:buChar char="•"/>
            </a:pPr>
            <a:r>
              <a:rPr lang="en-US" sz="2400" dirty="0"/>
              <a:t>Tame</a:t>
            </a:r>
          </a:p>
          <a:p>
            <a:pPr marL="742950" lvl="1" indent="-285750">
              <a:buFont typeface="Arial" panose="020B0604020202020204" pitchFamily="34" charset="0"/>
              <a:buChar char="•"/>
            </a:pPr>
            <a:r>
              <a:rPr lang="en-US" sz="2400" dirty="0"/>
              <a:t>Domesticated</a:t>
            </a:r>
          </a:p>
          <a:p>
            <a:pPr marL="285750" indent="-285750">
              <a:buFont typeface="Arial" panose="020B0604020202020204" pitchFamily="34" charset="0"/>
              <a:buChar char="•"/>
            </a:pPr>
            <a:r>
              <a:rPr lang="en-US" sz="2400" dirty="0"/>
              <a:t>Why did we domesticate animals?</a:t>
            </a:r>
          </a:p>
          <a:p>
            <a:pPr marL="742950" lvl="1" indent="-285750">
              <a:buFont typeface="Arial" panose="020B0604020202020204" pitchFamily="34" charset="0"/>
              <a:buChar char="•"/>
            </a:pPr>
            <a:r>
              <a:rPr lang="en-US" sz="2400" dirty="0"/>
              <a:t>Follow the link</a:t>
            </a:r>
          </a:p>
          <a:p>
            <a:pPr marL="742950" lvl="1" indent="-285750">
              <a:buFont typeface="Arial" panose="020B0604020202020204" pitchFamily="34" charset="0"/>
              <a:buChar char="•"/>
            </a:pPr>
            <a:r>
              <a:rPr lang="en-GB" sz="2400" dirty="0">
                <a:hlinkClick r:id="rId3"/>
              </a:rPr>
              <a:t>https://www.nationalgeographic.org/encyclopedia/domestication/</a:t>
            </a:r>
            <a:endParaRPr lang="en-US" sz="2400" dirty="0"/>
          </a:p>
          <a:p>
            <a:pPr marL="742950" lvl="1" indent="-285750">
              <a:buFont typeface="Arial" panose="020B0604020202020204" pitchFamily="34" charset="0"/>
              <a:buChar char="•"/>
            </a:pPr>
            <a:r>
              <a:rPr lang="en-US" sz="2400" dirty="0"/>
              <a:t>Identify why we domesticated animals?</a:t>
            </a:r>
          </a:p>
          <a:p>
            <a:pPr marL="742950" lvl="1" indent="-285750">
              <a:buFont typeface="Arial" panose="020B0604020202020204" pitchFamily="34" charset="0"/>
              <a:buChar char="•"/>
            </a:pPr>
            <a:r>
              <a:rPr lang="en-US" sz="2400" dirty="0"/>
              <a:t>What affect this had on our population?</a:t>
            </a:r>
          </a:p>
        </p:txBody>
      </p:sp>
    </p:spTree>
    <p:extLst>
      <p:ext uri="{BB962C8B-B14F-4D97-AF65-F5344CB8AC3E}">
        <p14:creationId xmlns:p14="http://schemas.microsoft.com/office/powerpoint/2010/main" val="4794323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heel(1)">
                                      <p:cBhvr>
                                        <p:cTn id="7" dur="12000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solidFill>
            <a:srgbClr val="00B0F0"/>
          </a:solidFill>
        </p:spPr>
        <p:txBody>
          <a:bodyPr/>
          <a:lstStyle/>
          <a:p>
            <a:r>
              <a:rPr lang="en-GB" dirty="0"/>
              <a:t>4 levels of domestication</a:t>
            </a:r>
          </a:p>
        </p:txBody>
      </p:sp>
      <p:sp>
        <p:nvSpPr>
          <p:cNvPr id="5" name="Text Placeholder 4"/>
          <p:cNvSpPr>
            <a:spLocks noGrp="1"/>
          </p:cNvSpPr>
          <p:nvPr>
            <p:ph type="body" sz="half" idx="2"/>
          </p:nvPr>
        </p:nvSpPr>
        <p:spPr/>
        <p:txBody>
          <a:bodyPr>
            <a:normAutofit fontScale="92500" lnSpcReduction="10000"/>
          </a:bodyPr>
          <a:lstStyle/>
          <a:p>
            <a:pPr lvl="0" algn="l" eaLnBrk="0" fontAlgn="base" hangingPunct="0">
              <a:spcBef>
                <a:spcPct val="0"/>
              </a:spcBef>
              <a:spcAft>
                <a:spcPct val="0"/>
              </a:spcAft>
              <a:buClrTx/>
            </a:pPr>
            <a:r>
              <a:rPr lang="en-GB" altLang="en-US" sz="1400" dirty="0">
                <a:solidFill>
                  <a:schemeClr val="tx1"/>
                </a:solidFill>
                <a:latin typeface="Arial" panose="020B0604020202020204" pitchFamily="34" charset="0"/>
                <a:ea typeface="Calibri" panose="020F0502020204030204" pitchFamily="34" charset="0"/>
                <a:cs typeface="Arial" panose="020B0604020202020204" pitchFamily="34" charset="0"/>
              </a:rPr>
              <a:t>Investigate how we have selectively bred animals over several generations.</a:t>
            </a:r>
            <a:r>
              <a:rPr lang="en-GB" altLang="en-US" sz="1400" dirty="0">
                <a:solidFill>
                  <a:schemeClr val="tx1"/>
                </a:solidFill>
                <a:latin typeface="Arial" panose="020B0604020202020204" pitchFamily="34" charset="0"/>
              </a:rPr>
              <a:t> </a:t>
            </a:r>
          </a:p>
          <a:p>
            <a:pPr lvl="0" algn="l" eaLnBrk="0" fontAlgn="base" hangingPunct="0">
              <a:spcBef>
                <a:spcPct val="0"/>
              </a:spcBef>
              <a:spcAft>
                <a:spcPct val="0"/>
              </a:spcAft>
              <a:buClrTx/>
            </a:pPr>
            <a:r>
              <a:rPr lang="en-GB" altLang="en-US" sz="1400" dirty="0">
                <a:solidFill>
                  <a:schemeClr val="tx1"/>
                </a:solidFill>
                <a:latin typeface="Arial" panose="020B0604020202020204" pitchFamily="34" charset="0"/>
              </a:rPr>
              <a:t>Recap the topic so far looking at example questions.</a:t>
            </a:r>
          </a:p>
          <a:p>
            <a:pPr lvl="0" algn="l" eaLnBrk="0" fontAlgn="base" hangingPunct="0">
              <a:spcBef>
                <a:spcPct val="0"/>
              </a:spcBef>
              <a:spcAft>
                <a:spcPct val="0"/>
              </a:spcAft>
              <a:buClrTx/>
            </a:pPr>
            <a:r>
              <a:rPr lang="en-GB" altLang="en-US" sz="1400" dirty="0">
                <a:solidFill>
                  <a:schemeClr val="tx1"/>
                </a:solidFill>
                <a:latin typeface="Arial" panose="020B0604020202020204" pitchFamily="34" charset="0"/>
              </a:rPr>
              <a:t>Look at the different  forms of domestic animal, their distribution and the processes that led to this.</a:t>
            </a:r>
          </a:p>
          <a:p>
            <a:pPr lvl="0" algn="l" eaLnBrk="0" fontAlgn="base" hangingPunct="0">
              <a:spcBef>
                <a:spcPct val="0"/>
              </a:spcBef>
              <a:spcAft>
                <a:spcPct val="0"/>
              </a:spcAft>
              <a:buClrTx/>
            </a:pPr>
            <a:r>
              <a:rPr lang="en-GB" altLang="en-US" sz="1400" dirty="0">
                <a:solidFill>
                  <a:schemeClr val="tx1"/>
                </a:solidFill>
                <a:latin typeface="Arial" panose="020B0604020202020204" pitchFamily="34" charset="0"/>
              </a:rPr>
              <a:t>Understand how animals form relationships with other species. </a:t>
            </a:r>
          </a:p>
          <a:p>
            <a:pPr lvl="0" algn="l" eaLnBrk="0" fontAlgn="base" hangingPunct="0">
              <a:spcBef>
                <a:spcPct val="0"/>
              </a:spcBef>
              <a:spcAft>
                <a:spcPct val="0"/>
              </a:spcAft>
              <a:buClrTx/>
            </a:pPr>
            <a:r>
              <a:rPr lang="en-GB" altLang="en-US" sz="1400" dirty="0">
                <a:solidFill>
                  <a:schemeClr val="tx1"/>
                </a:solidFill>
                <a:latin typeface="Arial" panose="020B0604020202020204" pitchFamily="34" charset="0"/>
              </a:rPr>
              <a:t>Identify what makes an animal a candidate for domestication.</a:t>
            </a:r>
          </a:p>
        </p:txBody>
      </p:sp>
      <p:sp>
        <p:nvSpPr>
          <p:cNvPr id="6" name="Title 1">
            <a:extLst>
              <a:ext uri="{FF2B5EF4-FFF2-40B4-BE49-F238E27FC236}">
                <a16:creationId xmlns:a16="http://schemas.microsoft.com/office/drawing/2014/main" id="{D3C61E50-8AC5-8D41-B342-07440162F683}"/>
              </a:ext>
            </a:extLst>
          </p:cNvPr>
          <p:cNvSpPr txBox="1">
            <a:spLocks/>
          </p:cNvSpPr>
          <p:nvPr/>
        </p:nvSpPr>
        <p:spPr bwMode="blackWhite">
          <a:xfrm>
            <a:off x="804672" y="5743954"/>
            <a:ext cx="4486656" cy="1141497"/>
          </a:xfrm>
          <a:prstGeom prst="rect">
            <a:avLst/>
          </a:prstGeom>
          <a:solidFill>
            <a:schemeClr val="accent1">
              <a:lumMod val="60000"/>
              <a:lumOff val="40000"/>
            </a:schemeClr>
          </a:solidFill>
          <a:ln w="31750" cap="sq">
            <a:solidFill>
              <a:srgbClr val="404040"/>
            </a:solidFill>
            <a:miter lim="800000"/>
          </a:ln>
        </p:spPr>
        <p:txBody>
          <a:bodyPr vert="horz" lIns="182880" tIns="182880" rIns="182880" bIns="182880" rtlCol="0" anchor="ctr" anchorCtr="1">
            <a:normAutofit fontScale="92500" lnSpcReduction="10000"/>
          </a:bodyPr>
          <a:lstStyle>
            <a:lvl1pPr algn="ctr" defTabSz="914400" rtl="0" eaLnBrk="1" latinLnBrk="0" hangingPunct="1">
              <a:lnSpc>
                <a:spcPct val="90000"/>
              </a:lnSpc>
              <a:spcBef>
                <a:spcPct val="0"/>
              </a:spcBef>
              <a:buNone/>
              <a:defRPr sz="2200" kern="1200" cap="all" spc="200" baseline="0">
                <a:solidFill>
                  <a:srgbClr val="262626"/>
                </a:solidFill>
                <a:latin typeface="+mj-lt"/>
                <a:ea typeface="+mj-ea"/>
                <a:cs typeface="+mj-cs"/>
              </a:defRPr>
            </a:lvl1pPr>
          </a:lstStyle>
          <a:p>
            <a:r>
              <a:rPr lang="en-US" dirty="0"/>
              <a:t>Boost Me: </a:t>
            </a:r>
            <a:r>
              <a:rPr lang="en-GB" dirty="0"/>
              <a:t>Structures of debate and genetic ratios. </a:t>
            </a:r>
            <a:endParaRPr lang="en-US" dirty="0"/>
          </a:p>
        </p:txBody>
      </p:sp>
      <p:sp>
        <p:nvSpPr>
          <p:cNvPr id="11" name="Oval 10"/>
          <p:cNvSpPr/>
          <p:nvPr/>
        </p:nvSpPr>
        <p:spPr>
          <a:xfrm>
            <a:off x="4003040" y="72391"/>
            <a:ext cx="2052228" cy="2052228"/>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solidFill>
                <a:srgbClr val="002060"/>
              </a:solidFill>
            </a:endParaRPr>
          </a:p>
        </p:txBody>
      </p:sp>
      <p:sp>
        <p:nvSpPr>
          <p:cNvPr id="2" name="Content Placeholder 1">
            <a:extLst>
              <a:ext uri="{FF2B5EF4-FFF2-40B4-BE49-F238E27FC236}">
                <a16:creationId xmlns:a16="http://schemas.microsoft.com/office/drawing/2014/main" id="{3BC87C80-E0B3-CE4B-A831-E9FE219CD211}"/>
              </a:ext>
            </a:extLst>
          </p:cNvPr>
          <p:cNvSpPr>
            <a:spLocks noGrp="1"/>
          </p:cNvSpPr>
          <p:nvPr>
            <p:ph idx="1"/>
          </p:nvPr>
        </p:nvSpPr>
        <p:spPr/>
        <p:txBody>
          <a:bodyPr>
            <a:normAutofit fontScale="92500" lnSpcReduction="10000"/>
          </a:bodyPr>
          <a:lstStyle/>
          <a:p>
            <a:r>
              <a:rPr lang="en-US" sz="2400" dirty="0"/>
              <a:t>Looking at the documentary on how man created dog we are going to examine what selective breeding is the documentary outlines what the process is.</a:t>
            </a:r>
          </a:p>
          <a:p>
            <a:pPr lvl="1"/>
            <a:r>
              <a:rPr lang="en-US" sz="2000" dirty="0"/>
              <a:t>There are two types of selective breeding we are going to look at purebred and crossbred.</a:t>
            </a:r>
          </a:p>
          <a:p>
            <a:pPr lvl="1"/>
            <a:r>
              <a:rPr lang="en-US" sz="2000" dirty="0"/>
              <a:t>Looking at these two examples you need to identify the benefits of each system and what are the disadvantages of the system.</a:t>
            </a:r>
          </a:p>
          <a:p>
            <a:pPr lvl="1"/>
            <a:r>
              <a:rPr lang="en-US" sz="2000" dirty="0"/>
              <a:t>Look at a specific example animal and using the process back crossing how will you benefit the breed and what is the likely variation you are going to see. An example will be given with the Dalmatian and Weimaraner.</a:t>
            </a:r>
          </a:p>
        </p:txBody>
      </p:sp>
    </p:spTree>
    <p:extLst>
      <p:ext uri="{BB962C8B-B14F-4D97-AF65-F5344CB8AC3E}">
        <p14:creationId xmlns:p14="http://schemas.microsoft.com/office/powerpoint/2010/main" val="28284362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heel(1)">
                                      <p:cBhvr>
                                        <p:cTn id="7" dur="12000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solidFill>
            <a:srgbClr val="92D050"/>
          </a:solidFill>
        </p:spPr>
        <p:txBody>
          <a:bodyPr/>
          <a:lstStyle/>
          <a:p>
            <a:r>
              <a:rPr lang="en-GB" dirty="0"/>
              <a:t>bond</a:t>
            </a:r>
          </a:p>
        </p:txBody>
      </p:sp>
      <p:sp>
        <p:nvSpPr>
          <p:cNvPr id="7" name="Title 1">
            <a:extLst>
              <a:ext uri="{FF2B5EF4-FFF2-40B4-BE49-F238E27FC236}">
                <a16:creationId xmlns:a16="http://schemas.microsoft.com/office/drawing/2014/main" id="{374E0B9D-B59E-C142-AC3F-7F10C97BCC83}"/>
              </a:ext>
            </a:extLst>
          </p:cNvPr>
          <p:cNvSpPr txBox="1">
            <a:spLocks/>
          </p:cNvSpPr>
          <p:nvPr/>
        </p:nvSpPr>
        <p:spPr bwMode="blackWhite">
          <a:xfrm>
            <a:off x="804672" y="5743954"/>
            <a:ext cx="4486656" cy="1141497"/>
          </a:xfrm>
          <a:prstGeom prst="rect">
            <a:avLst/>
          </a:prstGeom>
          <a:solidFill>
            <a:schemeClr val="accent1">
              <a:lumMod val="60000"/>
              <a:lumOff val="40000"/>
            </a:schemeClr>
          </a:solidFill>
          <a:ln w="31750" cap="sq">
            <a:solidFill>
              <a:srgbClr val="404040"/>
            </a:solidFill>
            <a:miter lim="800000"/>
          </a:ln>
        </p:spPr>
        <p:txBody>
          <a:bodyPr vert="horz" lIns="182880" tIns="182880" rIns="182880" bIns="182880" rtlCol="0" anchor="ctr" anchorCtr="1">
            <a:normAutofit fontScale="92500" lnSpcReduction="10000"/>
          </a:bodyPr>
          <a:lstStyle>
            <a:lvl1pPr algn="ctr" defTabSz="914400" rtl="0" eaLnBrk="1" latinLnBrk="0" hangingPunct="1">
              <a:lnSpc>
                <a:spcPct val="90000"/>
              </a:lnSpc>
              <a:spcBef>
                <a:spcPct val="0"/>
              </a:spcBef>
              <a:buNone/>
              <a:defRPr sz="2200" kern="1200" cap="all" spc="200" baseline="0">
                <a:solidFill>
                  <a:srgbClr val="262626"/>
                </a:solidFill>
                <a:latin typeface="+mj-lt"/>
                <a:ea typeface="+mj-ea"/>
                <a:cs typeface="+mj-cs"/>
              </a:defRPr>
            </a:lvl1pPr>
          </a:lstStyle>
          <a:p>
            <a:r>
              <a:rPr lang="en-US" dirty="0"/>
              <a:t>Boost Me: </a:t>
            </a:r>
            <a:r>
              <a:rPr lang="en-GB" dirty="0"/>
              <a:t>Structures of debate and genetic ratios. </a:t>
            </a:r>
            <a:endParaRPr lang="en-US" dirty="0"/>
          </a:p>
        </p:txBody>
      </p:sp>
      <p:sp>
        <p:nvSpPr>
          <p:cNvPr id="8" name="Oval 7"/>
          <p:cNvSpPr/>
          <p:nvPr/>
        </p:nvSpPr>
        <p:spPr>
          <a:xfrm>
            <a:off x="3884214" y="76217"/>
            <a:ext cx="2052228" cy="2052228"/>
          </a:xfrm>
          <a:prstGeom prst="ellipse">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solidFill>
                <a:srgbClr val="002060"/>
              </a:solidFill>
            </a:endParaRPr>
          </a:p>
        </p:txBody>
      </p:sp>
      <p:sp>
        <p:nvSpPr>
          <p:cNvPr id="10" name="Rectangle 2">
            <a:extLst>
              <a:ext uri="{FF2B5EF4-FFF2-40B4-BE49-F238E27FC236}">
                <a16:creationId xmlns:a16="http://schemas.microsoft.com/office/drawing/2014/main" id="{B5FFF5B1-30E2-974C-A565-9D5BA3B6270B}"/>
              </a:ext>
            </a:extLst>
          </p:cNvPr>
          <p:cNvSpPr>
            <a:spLocks noGrp="1" noChangeArrowheads="1"/>
          </p:cNvSpPr>
          <p:nvPr>
            <p:ph type="body" sz="half" idx="2"/>
          </p:nvPr>
        </p:nvSpPr>
        <p:spPr bwMode="auto">
          <a:xfrm>
            <a:off x="804672" y="3363689"/>
            <a:ext cx="4486656" cy="22467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GB" altLang="en-US" sz="1400" b="0" i="0" u="none" strike="noStrike" cap="none" normalizeH="0" baseline="0" dirty="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Investigate how we have selectively bred animals over several generations.</a:t>
            </a:r>
            <a:r>
              <a:rPr kumimoji="0" lang="en-GB" altLang="en-US" sz="1400" b="0" i="0" u="none" strike="noStrike" cap="none" normalizeH="0" baseline="0" dirty="0">
                <a:ln>
                  <a:noFill/>
                </a:ln>
                <a:solidFill>
                  <a:schemeClr val="tx1"/>
                </a:solidFill>
                <a:effectLst/>
                <a:latin typeface="Arial" panose="020B0604020202020204" pitchFamily="34" charset="0"/>
              </a:rPr>
              <a:t> </a:t>
            </a:r>
          </a:p>
          <a:p>
            <a:pPr lvl="0" algn="l" eaLnBrk="0" fontAlgn="base" hangingPunct="0">
              <a:spcBef>
                <a:spcPct val="0"/>
              </a:spcBef>
              <a:spcAft>
                <a:spcPct val="0"/>
              </a:spcAft>
              <a:buClrTx/>
            </a:pPr>
            <a:r>
              <a:rPr lang="en-GB" altLang="en-US" sz="1400" dirty="0">
                <a:solidFill>
                  <a:schemeClr val="tx1"/>
                </a:solidFill>
                <a:latin typeface="Arial" panose="020B0604020202020204" pitchFamily="34" charset="0"/>
              </a:rPr>
              <a:t>Recap the topic so far looking at example questions.</a:t>
            </a:r>
          </a:p>
          <a:p>
            <a:pPr lvl="0" algn="l" eaLnBrk="0" fontAlgn="base" hangingPunct="0">
              <a:spcBef>
                <a:spcPct val="0"/>
              </a:spcBef>
              <a:spcAft>
                <a:spcPct val="0"/>
              </a:spcAft>
              <a:buClrTx/>
            </a:pPr>
            <a:r>
              <a:rPr lang="en-GB" altLang="en-US" sz="1400" dirty="0">
                <a:solidFill>
                  <a:schemeClr val="tx1"/>
                </a:solidFill>
                <a:latin typeface="Arial" panose="020B0604020202020204" pitchFamily="34" charset="0"/>
              </a:rPr>
              <a:t>Look at the different  forms of domestic animal, their distribution and the processes that led to this.</a:t>
            </a:r>
          </a:p>
          <a:p>
            <a:pPr lvl="0" algn="l" eaLnBrk="0" fontAlgn="base" hangingPunct="0">
              <a:spcBef>
                <a:spcPct val="0"/>
              </a:spcBef>
              <a:spcAft>
                <a:spcPct val="0"/>
              </a:spcAft>
              <a:buClrTx/>
            </a:pPr>
            <a:r>
              <a:rPr lang="en-GB" altLang="en-US" sz="1400" dirty="0">
                <a:solidFill>
                  <a:schemeClr val="tx1"/>
                </a:solidFill>
                <a:latin typeface="Arial" panose="020B0604020202020204" pitchFamily="34" charset="0"/>
              </a:rPr>
              <a:t>Understand how animals form relationships with other species. </a:t>
            </a:r>
          </a:p>
          <a:p>
            <a:pPr lvl="0" algn="l" eaLnBrk="0" fontAlgn="base" hangingPunct="0">
              <a:spcBef>
                <a:spcPct val="0"/>
              </a:spcBef>
              <a:spcAft>
                <a:spcPct val="0"/>
              </a:spcAft>
              <a:buClrTx/>
            </a:pPr>
            <a:r>
              <a:rPr lang="en-GB" altLang="en-US" sz="1400" dirty="0">
                <a:solidFill>
                  <a:schemeClr val="tx1"/>
                </a:solidFill>
                <a:latin typeface="Arial" panose="020B0604020202020204" pitchFamily="34" charset="0"/>
              </a:rPr>
              <a:t>Identify what makes an animal a candidate for domestication.</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GB" altLang="en-US" sz="1400" b="0" i="0" u="none" strike="noStrike" cap="none" normalizeH="0" baseline="0" dirty="0">
              <a:ln>
                <a:noFill/>
              </a:ln>
              <a:solidFill>
                <a:schemeClr val="tx1"/>
              </a:solidFill>
              <a:effectLst/>
              <a:latin typeface="Arial" panose="020B0604020202020204" pitchFamily="34" charset="0"/>
            </a:endParaRPr>
          </a:p>
        </p:txBody>
      </p:sp>
      <p:sp>
        <p:nvSpPr>
          <p:cNvPr id="12" name="Content Placeholder 11">
            <a:extLst>
              <a:ext uri="{FF2B5EF4-FFF2-40B4-BE49-F238E27FC236}">
                <a16:creationId xmlns:a16="http://schemas.microsoft.com/office/drawing/2014/main" id="{F8E96FC8-E562-EA40-A297-56706F739DCA}"/>
              </a:ext>
            </a:extLst>
          </p:cNvPr>
          <p:cNvSpPr>
            <a:spLocks noGrp="1"/>
          </p:cNvSpPr>
          <p:nvPr>
            <p:ph idx="1"/>
          </p:nvPr>
        </p:nvSpPr>
        <p:spPr/>
        <p:txBody>
          <a:bodyPr>
            <a:normAutofit/>
          </a:bodyPr>
          <a:lstStyle/>
          <a:p>
            <a:r>
              <a:rPr lang="en-US" sz="2400" dirty="0"/>
              <a:t>Why do animals form bonds and what benefit does, this provide for the human and the animal in the relationships?</a:t>
            </a:r>
          </a:p>
          <a:p>
            <a:pPr lvl="1"/>
            <a:r>
              <a:rPr lang="en-US" sz="2100" dirty="0"/>
              <a:t>Age of the animal</a:t>
            </a:r>
          </a:p>
          <a:p>
            <a:pPr lvl="1"/>
            <a:r>
              <a:rPr lang="en-US" sz="2100" dirty="0"/>
              <a:t>Social bonds</a:t>
            </a:r>
          </a:p>
          <a:p>
            <a:pPr lvl="1"/>
            <a:r>
              <a:rPr lang="en-US" sz="2100" dirty="0"/>
              <a:t>Safety and security (Protection)</a:t>
            </a:r>
          </a:p>
          <a:p>
            <a:pPr lvl="1"/>
            <a:r>
              <a:rPr lang="en-US" sz="2100" dirty="0"/>
              <a:t>Mutualism</a:t>
            </a:r>
          </a:p>
          <a:p>
            <a:r>
              <a:rPr lang="en-US" sz="2400" dirty="0"/>
              <a:t>What are the positives and negatives of each aspect of the bond as well as the ramifications of the </a:t>
            </a:r>
            <a:r>
              <a:rPr lang="en-US" sz="2400" dirty="0" err="1"/>
              <a:t>behaviours</a:t>
            </a:r>
            <a:r>
              <a:rPr lang="en-US" sz="2400" dirty="0"/>
              <a:t>. </a:t>
            </a:r>
          </a:p>
        </p:txBody>
      </p:sp>
    </p:spTree>
    <p:extLst>
      <p:ext uri="{BB962C8B-B14F-4D97-AF65-F5344CB8AC3E}">
        <p14:creationId xmlns:p14="http://schemas.microsoft.com/office/powerpoint/2010/main" val="8449659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heel(1)">
                                      <p:cBhvr>
                                        <p:cTn id="7" dur="1200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solidFill>
            <a:srgbClr val="92D050"/>
          </a:solidFill>
        </p:spPr>
        <p:txBody>
          <a:bodyPr/>
          <a:lstStyle/>
          <a:p>
            <a:r>
              <a:rPr lang="en-GB" dirty="0"/>
              <a:t>Reasons for domestication</a:t>
            </a:r>
          </a:p>
        </p:txBody>
      </p:sp>
      <p:sp>
        <p:nvSpPr>
          <p:cNvPr id="7" name="Title 1">
            <a:extLst>
              <a:ext uri="{FF2B5EF4-FFF2-40B4-BE49-F238E27FC236}">
                <a16:creationId xmlns:a16="http://schemas.microsoft.com/office/drawing/2014/main" id="{374E0B9D-B59E-C142-AC3F-7F10C97BCC83}"/>
              </a:ext>
            </a:extLst>
          </p:cNvPr>
          <p:cNvSpPr txBox="1">
            <a:spLocks/>
          </p:cNvSpPr>
          <p:nvPr/>
        </p:nvSpPr>
        <p:spPr bwMode="blackWhite">
          <a:xfrm>
            <a:off x="804672" y="5743954"/>
            <a:ext cx="4486656" cy="1141497"/>
          </a:xfrm>
          <a:prstGeom prst="rect">
            <a:avLst/>
          </a:prstGeom>
          <a:solidFill>
            <a:schemeClr val="accent1">
              <a:lumMod val="60000"/>
              <a:lumOff val="40000"/>
            </a:schemeClr>
          </a:solidFill>
          <a:ln w="31750" cap="sq">
            <a:solidFill>
              <a:srgbClr val="404040"/>
            </a:solidFill>
            <a:miter lim="800000"/>
          </a:ln>
        </p:spPr>
        <p:txBody>
          <a:bodyPr vert="horz" lIns="182880" tIns="182880" rIns="182880" bIns="182880" rtlCol="0" anchor="ctr" anchorCtr="1">
            <a:normAutofit fontScale="92500" lnSpcReduction="10000"/>
          </a:bodyPr>
          <a:lstStyle>
            <a:lvl1pPr algn="ctr" defTabSz="914400" rtl="0" eaLnBrk="1" latinLnBrk="0" hangingPunct="1">
              <a:lnSpc>
                <a:spcPct val="90000"/>
              </a:lnSpc>
              <a:spcBef>
                <a:spcPct val="0"/>
              </a:spcBef>
              <a:buNone/>
              <a:defRPr sz="2200" kern="1200" cap="all" spc="200" baseline="0">
                <a:solidFill>
                  <a:srgbClr val="262626"/>
                </a:solidFill>
                <a:latin typeface="+mj-lt"/>
                <a:ea typeface="+mj-ea"/>
                <a:cs typeface="+mj-cs"/>
              </a:defRPr>
            </a:lvl1pPr>
          </a:lstStyle>
          <a:p>
            <a:r>
              <a:rPr lang="en-US" dirty="0"/>
              <a:t>Boost Me: </a:t>
            </a:r>
            <a:r>
              <a:rPr lang="en-GB" dirty="0"/>
              <a:t>Structures of debate and genetic ratios. </a:t>
            </a:r>
            <a:endParaRPr lang="en-US" dirty="0"/>
          </a:p>
        </p:txBody>
      </p:sp>
      <p:sp>
        <p:nvSpPr>
          <p:cNvPr id="10" name="Rectangle 2">
            <a:extLst>
              <a:ext uri="{FF2B5EF4-FFF2-40B4-BE49-F238E27FC236}">
                <a16:creationId xmlns:a16="http://schemas.microsoft.com/office/drawing/2014/main" id="{B5FFF5B1-30E2-974C-A565-9D5BA3B6270B}"/>
              </a:ext>
            </a:extLst>
          </p:cNvPr>
          <p:cNvSpPr>
            <a:spLocks noGrp="1" noChangeArrowheads="1"/>
          </p:cNvSpPr>
          <p:nvPr>
            <p:ph type="body" sz="half" idx="2"/>
          </p:nvPr>
        </p:nvSpPr>
        <p:spPr bwMode="auto">
          <a:xfrm>
            <a:off x="804672" y="3363689"/>
            <a:ext cx="4486656" cy="22467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GB" altLang="en-US" sz="1400" b="0" i="0" u="none" strike="noStrike" cap="none" normalizeH="0" baseline="0" dirty="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Investigate how we have selectively bred animals over several generations.</a:t>
            </a:r>
            <a:r>
              <a:rPr kumimoji="0" lang="en-GB" altLang="en-US" sz="1400" b="0" i="0" u="none" strike="noStrike" cap="none" normalizeH="0" baseline="0" dirty="0">
                <a:ln>
                  <a:noFill/>
                </a:ln>
                <a:solidFill>
                  <a:schemeClr val="tx1"/>
                </a:solidFill>
                <a:effectLst/>
                <a:latin typeface="Arial" panose="020B0604020202020204" pitchFamily="34" charset="0"/>
              </a:rPr>
              <a:t> </a:t>
            </a:r>
          </a:p>
          <a:p>
            <a:pPr lvl="0" algn="l" eaLnBrk="0" fontAlgn="base" hangingPunct="0">
              <a:spcBef>
                <a:spcPct val="0"/>
              </a:spcBef>
              <a:spcAft>
                <a:spcPct val="0"/>
              </a:spcAft>
              <a:buClrTx/>
            </a:pPr>
            <a:r>
              <a:rPr lang="en-GB" altLang="en-US" sz="1400" dirty="0">
                <a:solidFill>
                  <a:schemeClr val="tx1"/>
                </a:solidFill>
                <a:latin typeface="Arial" panose="020B0604020202020204" pitchFamily="34" charset="0"/>
              </a:rPr>
              <a:t>Recap the topic so far looking at example questions.</a:t>
            </a:r>
          </a:p>
          <a:p>
            <a:pPr lvl="0" algn="l" eaLnBrk="0" fontAlgn="base" hangingPunct="0">
              <a:spcBef>
                <a:spcPct val="0"/>
              </a:spcBef>
              <a:spcAft>
                <a:spcPct val="0"/>
              </a:spcAft>
              <a:buClrTx/>
            </a:pPr>
            <a:r>
              <a:rPr lang="en-GB" altLang="en-US" sz="1400" dirty="0">
                <a:solidFill>
                  <a:schemeClr val="tx1"/>
                </a:solidFill>
                <a:latin typeface="Arial" panose="020B0604020202020204" pitchFamily="34" charset="0"/>
              </a:rPr>
              <a:t>Look at the different  forms of domestic animal, their distribution and the processes that led to this.</a:t>
            </a:r>
          </a:p>
          <a:p>
            <a:pPr lvl="0" algn="l" eaLnBrk="0" fontAlgn="base" hangingPunct="0">
              <a:spcBef>
                <a:spcPct val="0"/>
              </a:spcBef>
              <a:spcAft>
                <a:spcPct val="0"/>
              </a:spcAft>
              <a:buClrTx/>
            </a:pPr>
            <a:r>
              <a:rPr lang="en-GB" altLang="en-US" sz="1400" dirty="0">
                <a:solidFill>
                  <a:schemeClr val="tx1"/>
                </a:solidFill>
                <a:latin typeface="Arial" panose="020B0604020202020204" pitchFamily="34" charset="0"/>
              </a:rPr>
              <a:t>Understand how animals form relationships with other species. </a:t>
            </a:r>
          </a:p>
          <a:p>
            <a:pPr lvl="0" algn="l" eaLnBrk="0" fontAlgn="base" hangingPunct="0">
              <a:spcBef>
                <a:spcPct val="0"/>
              </a:spcBef>
              <a:spcAft>
                <a:spcPct val="0"/>
              </a:spcAft>
              <a:buClrTx/>
            </a:pPr>
            <a:r>
              <a:rPr lang="en-GB" altLang="en-US" sz="1400" dirty="0">
                <a:solidFill>
                  <a:schemeClr val="tx1"/>
                </a:solidFill>
                <a:latin typeface="Arial" panose="020B0604020202020204" pitchFamily="34" charset="0"/>
              </a:rPr>
              <a:t>Identify what makes an animal a candidate for domestication.</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GB" altLang="en-US" sz="1400" b="0" i="0" u="none" strike="noStrike" cap="none" normalizeH="0" baseline="0" dirty="0">
              <a:ln>
                <a:noFill/>
              </a:ln>
              <a:solidFill>
                <a:schemeClr val="tx1"/>
              </a:solidFill>
              <a:effectLst/>
              <a:latin typeface="Arial" panose="020B0604020202020204" pitchFamily="34" charset="0"/>
            </a:endParaRPr>
          </a:p>
        </p:txBody>
      </p:sp>
      <p:sp>
        <p:nvSpPr>
          <p:cNvPr id="12" name="Content Placeholder 11">
            <a:extLst>
              <a:ext uri="{FF2B5EF4-FFF2-40B4-BE49-F238E27FC236}">
                <a16:creationId xmlns:a16="http://schemas.microsoft.com/office/drawing/2014/main" id="{F8E96FC8-E562-EA40-A297-56706F739DCA}"/>
              </a:ext>
            </a:extLst>
          </p:cNvPr>
          <p:cNvSpPr>
            <a:spLocks noGrp="1"/>
          </p:cNvSpPr>
          <p:nvPr>
            <p:ph idx="1"/>
          </p:nvPr>
        </p:nvSpPr>
        <p:spPr/>
        <p:txBody>
          <a:bodyPr>
            <a:normAutofit/>
          </a:bodyPr>
          <a:lstStyle/>
          <a:p>
            <a:r>
              <a:rPr lang="en-US" sz="2400" dirty="0"/>
              <a:t>Reasons for domestication:</a:t>
            </a:r>
          </a:p>
          <a:p>
            <a:r>
              <a:rPr lang="en-US" sz="2400" dirty="0"/>
              <a:t>Think of example animals for each of the following points.</a:t>
            </a:r>
          </a:p>
          <a:p>
            <a:pPr lvl="1"/>
            <a:r>
              <a:rPr lang="en-US" sz="2000" dirty="0"/>
              <a:t>Mutual benefit for the animals.</a:t>
            </a:r>
          </a:p>
          <a:p>
            <a:pPr lvl="1"/>
            <a:r>
              <a:rPr lang="en-US" sz="2000" dirty="0"/>
              <a:t>Agriculture and food production.</a:t>
            </a:r>
          </a:p>
          <a:p>
            <a:pPr lvl="1"/>
            <a:r>
              <a:rPr lang="en-US" sz="2000" dirty="0"/>
              <a:t>Draught animals</a:t>
            </a:r>
          </a:p>
          <a:p>
            <a:pPr lvl="1"/>
            <a:r>
              <a:rPr lang="en-US" sz="2000" dirty="0"/>
              <a:t>Are there any other examples you can think of?</a:t>
            </a:r>
          </a:p>
        </p:txBody>
      </p:sp>
    </p:spTree>
    <p:extLst>
      <p:ext uri="{BB962C8B-B14F-4D97-AF65-F5344CB8AC3E}">
        <p14:creationId xmlns:p14="http://schemas.microsoft.com/office/powerpoint/2010/main" val="32352865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solidFill>
            <a:srgbClr val="00B0F0"/>
          </a:solidFill>
        </p:spPr>
        <p:txBody>
          <a:bodyPr/>
          <a:lstStyle/>
          <a:p>
            <a:r>
              <a:rPr lang="en-GB" dirty="0"/>
              <a:t>Criteria for domestication</a:t>
            </a:r>
          </a:p>
        </p:txBody>
      </p:sp>
      <p:sp>
        <p:nvSpPr>
          <p:cNvPr id="7" name="Title 1">
            <a:extLst>
              <a:ext uri="{FF2B5EF4-FFF2-40B4-BE49-F238E27FC236}">
                <a16:creationId xmlns:a16="http://schemas.microsoft.com/office/drawing/2014/main" id="{374E0B9D-B59E-C142-AC3F-7F10C97BCC83}"/>
              </a:ext>
            </a:extLst>
          </p:cNvPr>
          <p:cNvSpPr txBox="1">
            <a:spLocks/>
          </p:cNvSpPr>
          <p:nvPr/>
        </p:nvSpPr>
        <p:spPr bwMode="blackWhite">
          <a:xfrm>
            <a:off x="804672" y="5743954"/>
            <a:ext cx="4486656" cy="1141497"/>
          </a:xfrm>
          <a:prstGeom prst="rect">
            <a:avLst/>
          </a:prstGeom>
          <a:solidFill>
            <a:schemeClr val="accent1">
              <a:lumMod val="60000"/>
              <a:lumOff val="40000"/>
            </a:schemeClr>
          </a:solidFill>
          <a:ln w="31750" cap="sq">
            <a:solidFill>
              <a:srgbClr val="404040"/>
            </a:solidFill>
            <a:miter lim="800000"/>
          </a:ln>
        </p:spPr>
        <p:txBody>
          <a:bodyPr vert="horz" lIns="182880" tIns="182880" rIns="182880" bIns="182880" rtlCol="0" anchor="ctr" anchorCtr="1">
            <a:normAutofit fontScale="92500" lnSpcReduction="10000"/>
          </a:bodyPr>
          <a:lstStyle>
            <a:lvl1pPr algn="ctr" defTabSz="914400" rtl="0" eaLnBrk="1" latinLnBrk="0" hangingPunct="1">
              <a:lnSpc>
                <a:spcPct val="90000"/>
              </a:lnSpc>
              <a:spcBef>
                <a:spcPct val="0"/>
              </a:spcBef>
              <a:buNone/>
              <a:defRPr sz="2200" kern="1200" cap="all" spc="200" baseline="0">
                <a:solidFill>
                  <a:srgbClr val="262626"/>
                </a:solidFill>
                <a:latin typeface="+mj-lt"/>
                <a:ea typeface="+mj-ea"/>
                <a:cs typeface="+mj-cs"/>
              </a:defRPr>
            </a:lvl1pPr>
          </a:lstStyle>
          <a:p>
            <a:r>
              <a:rPr lang="en-US" dirty="0"/>
              <a:t>Boost Me: </a:t>
            </a:r>
            <a:r>
              <a:rPr lang="en-GB" dirty="0"/>
              <a:t>Structures of debate and genetic ratios. </a:t>
            </a:r>
            <a:endParaRPr lang="en-US" dirty="0"/>
          </a:p>
        </p:txBody>
      </p:sp>
      <p:sp>
        <p:nvSpPr>
          <p:cNvPr id="10" name="Rectangle 2">
            <a:extLst>
              <a:ext uri="{FF2B5EF4-FFF2-40B4-BE49-F238E27FC236}">
                <a16:creationId xmlns:a16="http://schemas.microsoft.com/office/drawing/2014/main" id="{B5FFF5B1-30E2-974C-A565-9D5BA3B6270B}"/>
              </a:ext>
            </a:extLst>
          </p:cNvPr>
          <p:cNvSpPr>
            <a:spLocks noGrp="1" noChangeArrowheads="1"/>
          </p:cNvSpPr>
          <p:nvPr>
            <p:ph type="body" sz="half" idx="2"/>
          </p:nvPr>
        </p:nvSpPr>
        <p:spPr bwMode="auto">
          <a:xfrm>
            <a:off x="804672" y="3363689"/>
            <a:ext cx="4486656" cy="22467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GB" altLang="en-US" sz="1400" b="0" i="0" u="none" strike="noStrike" cap="none" normalizeH="0" baseline="0" dirty="0">
                <a:ln>
                  <a:noFill/>
                </a:ln>
                <a:solidFill>
                  <a:schemeClr val="tx1"/>
                </a:solidFill>
                <a:effectLst/>
                <a:latin typeface="Arial" panose="020B0604020202020204" pitchFamily="34" charset="0"/>
                <a:ea typeface="Calibri" panose="020F0502020204030204" pitchFamily="34" charset="0"/>
                <a:cs typeface="Arial" panose="020B0604020202020204" pitchFamily="34" charset="0"/>
              </a:rPr>
              <a:t>Investigate how we have selectively bred animals over several generations.</a:t>
            </a:r>
            <a:r>
              <a:rPr kumimoji="0" lang="en-GB" altLang="en-US" sz="1400" b="0" i="0" u="none" strike="noStrike" cap="none" normalizeH="0" baseline="0" dirty="0">
                <a:ln>
                  <a:noFill/>
                </a:ln>
                <a:solidFill>
                  <a:schemeClr val="tx1"/>
                </a:solidFill>
                <a:effectLst/>
                <a:latin typeface="Arial" panose="020B0604020202020204" pitchFamily="34" charset="0"/>
              </a:rPr>
              <a:t> </a:t>
            </a:r>
          </a:p>
          <a:p>
            <a:pPr lvl="0" algn="l" eaLnBrk="0" fontAlgn="base" hangingPunct="0">
              <a:spcBef>
                <a:spcPct val="0"/>
              </a:spcBef>
              <a:spcAft>
                <a:spcPct val="0"/>
              </a:spcAft>
              <a:buClrTx/>
            </a:pPr>
            <a:r>
              <a:rPr lang="en-GB" altLang="en-US" sz="1400" dirty="0">
                <a:solidFill>
                  <a:schemeClr val="tx1"/>
                </a:solidFill>
                <a:latin typeface="Arial" panose="020B0604020202020204" pitchFamily="34" charset="0"/>
              </a:rPr>
              <a:t>Recap the topic so far looking at example questions.</a:t>
            </a:r>
          </a:p>
          <a:p>
            <a:pPr lvl="0" algn="l" eaLnBrk="0" fontAlgn="base" hangingPunct="0">
              <a:spcBef>
                <a:spcPct val="0"/>
              </a:spcBef>
              <a:spcAft>
                <a:spcPct val="0"/>
              </a:spcAft>
              <a:buClrTx/>
            </a:pPr>
            <a:r>
              <a:rPr lang="en-GB" altLang="en-US" sz="1400" dirty="0">
                <a:solidFill>
                  <a:schemeClr val="tx1"/>
                </a:solidFill>
                <a:latin typeface="Arial" panose="020B0604020202020204" pitchFamily="34" charset="0"/>
              </a:rPr>
              <a:t>Look at the different  forms of domestic animal, their distribution and the processes that led to this.</a:t>
            </a:r>
          </a:p>
          <a:p>
            <a:pPr lvl="0" algn="l" eaLnBrk="0" fontAlgn="base" hangingPunct="0">
              <a:spcBef>
                <a:spcPct val="0"/>
              </a:spcBef>
              <a:spcAft>
                <a:spcPct val="0"/>
              </a:spcAft>
              <a:buClrTx/>
            </a:pPr>
            <a:r>
              <a:rPr lang="en-GB" altLang="en-US" sz="1400" dirty="0">
                <a:solidFill>
                  <a:schemeClr val="tx1"/>
                </a:solidFill>
                <a:latin typeface="Arial" panose="020B0604020202020204" pitchFamily="34" charset="0"/>
              </a:rPr>
              <a:t>Understand how animals form relationships with other species. </a:t>
            </a:r>
          </a:p>
          <a:p>
            <a:pPr lvl="0" algn="l" eaLnBrk="0" fontAlgn="base" hangingPunct="0">
              <a:spcBef>
                <a:spcPct val="0"/>
              </a:spcBef>
              <a:spcAft>
                <a:spcPct val="0"/>
              </a:spcAft>
              <a:buClrTx/>
            </a:pPr>
            <a:r>
              <a:rPr lang="en-GB" altLang="en-US" sz="1400" dirty="0">
                <a:solidFill>
                  <a:schemeClr val="tx1"/>
                </a:solidFill>
                <a:latin typeface="Arial" panose="020B0604020202020204" pitchFamily="34" charset="0"/>
              </a:rPr>
              <a:t>Identify what makes an animal a candidate for domestication.</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GB" altLang="en-US" sz="1400" b="0" i="0" u="none" strike="noStrike" cap="none" normalizeH="0" baseline="0" dirty="0">
              <a:ln>
                <a:noFill/>
              </a:ln>
              <a:solidFill>
                <a:schemeClr val="tx1"/>
              </a:solidFill>
              <a:effectLst/>
              <a:latin typeface="Arial" panose="020B0604020202020204" pitchFamily="34" charset="0"/>
            </a:endParaRPr>
          </a:p>
        </p:txBody>
      </p:sp>
      <p:sp>
        <p:nvSpPr>
          <p:cNvPr id="12" name="Content Placeholder 11">
            <a:extLst>
              <a:ext uri="{FF2B5EF4-FFF2-40B4-BE49-F238E27FC236}">
                <a16:creationId xmlns:a16="http://schemas.microsoft.com/office/drawing/2014/main" id="{F8E96FC8-E562-EA40-A297-56706F739DCA}"/>
              </a:ext>
            </a:extLst>
          </p:cNvPr>
          <p:cNvSpPr>
            <a:spLocks noGrp="1"/>
          </p:cNvSpPr>
          <p:nvPr>
            <p:ph idx="1"/>
          </p:nvPr>
        </p:nvSpPr>
        <p:spPr>
          <a:xfrm>
            <a:off x="6096000" y="0"/>
            <a:ext cx="6096000" cy="6858000"/>
          </a:xfrm>
        </p:spPr>
        <p:txBody>
          <a:bodyPr>
            <a:normAutofit fontScale="32500" lnSpcReduction="20000"/>
          </a:bodyPr>
          <a:lstStyle/>
          <a:p>
            <a:r>
              <a:rPr lang="en-US" sz="5600" dirty="0"/>
              <a:t>Diet: Humans can only domesticate animal species that live on cheap and accessible food. Sustaining animals that require specific and expensive dietary needs not only can be a problematic, but also easily interrupt and hamper domestication efforts.</a:t>
            </a:r>
          </a:p>
          <a:p>
            <a:r>
              <a:rPr lang="en-US" sz="5600" dirty="0"/>
              <a:t>Growth rate: The intended animal species for domestication should grow at a sufficiently fast rate for domesticators to generate a prompt return on the investment of rearing it.</a:t>
            </a:r>
          </a:p>
          <a:p>
            <a:r>
              <a:rPr lang="en-US" sz="5600" dirty="0"/>
              <a:t>Disposition: Animals must be at least sufficiently friendly for humans to go near them and therefore bring them into captivity. Vicious animals generally and naturally do not allow for human handling.</a:t>
            </a:r>
          </a:p>
          <a:p>
            <a:r>
              <a:rPr lang="en-US" sz="5600" dirty="0"/>
              <a:t>Ease of breeding: If the animal refuses to breed under the conditions as provided by domesticators, its period of being under human control would be short and hence not enough to facilitate for successful domestication.</a:t>
            </a:r>
          </a:p>
          <a:p>
            <a:r>
              <a:rPr lang="en-US" sz="5600" dirty="0"/>
              <a:t>Social hierarchy: If the intended type of animal for domestication forms social hierarchies in the wild to which they follow a leader, then humans would similarly be able to establish themselves as the dominant of that species. This is important because it meant that the animal would heed instructions from that people.</a:t>
            </a:r>
          </a:p>
          <a:p>
            <a:r>
              <a:rPr lang="en-US" sz="5600" dirty="0"/>
              <a:t>Tendency to panic: Many animals panic when restrained, contained in limited spaces or have perceived a threat. Animals, such as cows, that are more agreeable and serene despite being put under such conditions are easier to manage thus be domesticated.</a:t>
            </a:r>
          </a:p>
          <a:p>
            <a:endParaRPr lang="en-US" sz="2000" dirty="0"/>
          </a:p>
          <a:p>
            <a:endParaRPr lang="en-US" sz="2000" dirty="0"/>
          </a:p>
        </p:txBody>
      </p:sp>
    </p:spTree>
    <p:extLst>
      <p:ext uri="{BB962C8B-B14F-4D97-AF65-F5344CB8AC3E}">
        <p14:creationId xmlns:p14="http://schemas.microsoft.com/office/powerpoint/2010/main" val="206507424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rgbClr val="FFFF00"/>
          </a:solidFill>
        </p:spPr>
        <p:txBody>
          <a:bodyPr/>
          <a:lstStyle/>
          <a:p>
            <a:r>
              <a:rPr lang="en-US" dirty="0"/>
              <a:t>Why do we selectively breed animals</a:t>
            </a:r>
          </a:p>
        </p:txBody>
      </p:sp>
      <p:sp>
        <p:nvSpPr>
          <p:cNvPr id="4" name="Content Placeholder 3"/>
          <p:cNvSpPr>
            <a:spLocks noGrp="1"/>
          </p:cNvSpPr>
          <p:nvPr>
            <p:ph idx="1"/>
          </p:nvPr>
        </p:nvSpPr>
        <p:spPr/>
        <p:txBody>
          <a:bodyPr/>
          <a:lstStyle/>
          <a:p>
            <a:r>
              <a:rPr lang="en-GB" dirty="0"/>
              <a:t>Identify an animal that would make a suitable candidate for domestication and what features from the previous slide it covers. Generate this as a pitch for next weeks session.</a:t>
            </a:r>
          </a:p>
          <a:p>
            <a:r>
              <a:rPr lang="en-GB" dirty="0"/>
              <a:t>Identify your own innate bias on pedigree breeds by watching pedigree dogs exposed write a summary of your view prior to the video and then compare this to afterwards.</a:t>
            </a:r>
          </a:p>
          <a:p>
            <a:r>
              <a:rPr lang="en-GB"/>
              <a:t>https://vimeo.com/166015460  </a:t>
            </a:r>
            <a:endParaRPr lang="en-GB" dirty="0"/>
          </a:p>
          <a:p>
            <a:endParaRPr lang="en-GB" dirty="0"/>
          </a:p>
        </p:txBody>
      </p:sp>
      <p:sp>
        <p:nvSpPr>
          <p:cNvPr id="5" name="Text Placeholder 4"/>
          <p:cNvSpPr>
            <a:spLocks noGrp="1"/>
          </p:cNvSpPr>
          <p:nvPr>
            <p:ph type="body" sz="half" idx="2"/>
          </p:nvPr>
        </p:nvSpPr>
        <p:spPr/>
        <p:txBody>
          <a:bodyPr>
            <a:normAutofit fontScale="92500" lnSpcReduction="10000"/>
          </a:bodyPr>
          <a:lstStyle/>
          <a:p>
            <a:pPr lvl="0" algn="l" eaLnBrk="0" fontAlgn="base" hangingPunct="0">
              <a:spcBef>
                <a:spcPct val="0"/>
              </a:spcBef>
              <a:spcAft>
                <a:spcPct val="0"/>
              </a:spcAft>
              <a:buClrTx/>
            </a:pPr>
            <a:r>
              <a:rPr lang="en-GB" altLang="en-US" sz="1400" dirty="0">
                <a:solidFill>
                  <a:schemeClr val="tx1"/>
                </a:solidFill>
                <a:latin typeface="Arial" panose="020B0604020202020204" pitchFamily="34" charset="0"/>
                <a:ea typeface="Calibri" panose="020F0502020204030204" pitchFamily="34" charset="0"/>
                <a:cs typeface="Arial" panose="020B0604020202020204" pitchFamily="34" charset="0"/>
              </a:rPr>
              <a:t>Investigate how we have selectively bred animals over several generations.</a:t>
            </a:r>
            <a:r>
              <a:rPr lang="en-GB" altLang="en-US" sz="1400" dirty="0">
                <a:solidFill>
                  <a:schemeClr val="tx1"/>
                </a:solidFill>
                <a:latin typeface="Arial" panose="020B0604020202020204" pitchFamily="34" charset="0"/>
              </a:rPr>
              <a:t> </a:t>
            </a:r>
          </a:p>
          <a:p>
            <a:pPr lvl="0" algn="l" eaLnBrk="0" fontAlgn="base" hangingPunct="0">
              <a:spcBef>
                <a:spcPct val="0"/>
              </a:spcBef>
              <a:spcAft>
                <a:spcPct val="0"/>
              </a:spcAft>
              <a:buClrTx/>
            </a:pPr>
            <a:r>
              <a:rPr lang="en-GB" altLang="en-US" sz="1400" dirty="0">
                <a:solidFill>
                  <a:schemeClr val="tx1"/>
                </a:solidFill>
                <a:latin typeface="Arial" panose="020B0604020202020204" pitchFamily="34" charset="0"/>
              </a:rPr>
              <a:t>Recap the topic so far looking at example questions.</a:t>
            </a:r>
          </a:p>
          <a:p>
            <a:pPr lvl="0" algn="l" eaLnBrk="0" fontAlgn="base" hangingPunct="0">
              <a:spcBef>
                <a:spcPct val="0"/>
              </a:spcBef>
              <a:spcAft>
                <a:spcPct val="0"/>
              </a:spcAft>
              <a:buClrTx/>
            </a:pPr>
            <a:r>
              <a:rPr lang="en-GB" altLang="en-US" sz="1400" dirty="0">
                <a:solidFill>
                  <a:schemeClr val="tx1"/>
                </a:solidFill>
                <a:latin typeface="Arial" panose="020B0604020202020204" pitchFamily="34" charset="0"/>
              </a:rPr>
              <a:t>Look at the different  forms of domestic animal, their distribution and the processes that led to this.</a:t>
            </a:r>
          </a:p>
          <a:p>
            <a:pPr lvl="0" algn="l" eaLnBrk="0" fontAlgn="base" hangingPunct="0">
              <a:spcBef>
                <a:spcPct val="0"/>
              </a:spcBef>
              <a:spcAft>
                <a:spcPct val="0"/>
              </a:spcAft>
              <a:buClrTx/>
            </a:pPr>
            <a:r>
              <a:rPr lang="en-GB" altLang="en-US" sz="1400" dirty="0">
                <a:solidFill>
                  <a:schemeClr val="tx1"/>
                </a:solidFill>
                <a:latin typeface="Arial" panose="020B0604020202020204" pitchFamily="34" charset="0"/>
              </a:rPr>
              <a:t>Understand how animals form relationships with other species. </a:t>
            </a:r>
          </a:p>
          <a:p>
            <a:pPr lvl="0" algn="l" eaLnBrk="0" fontAlgn="base" hangingPunct="0">
              <a:spcBef>
                <a:spcPct val="0"/>
              </a:spcBef>
              <a:spcAft>
                <a:spcPct val="0"/>
              </a:spcAft>
              <a:buClrTx/>
            </a:pPr>
            <a:r>
              <a:rPr lang="en-GB" altLang="en-US" sz="1400" dirty="0">
                <a:solidFill>
                  <a:schemeClr val="tx1"/>
                </a:solidFill>
                <a:latin typeface="Arial" panose="020B0604020202020204" pitchFamily="34" charset="0"/>
              </a:rPr>
              <a:t>Identify what makes an animal a candidate for domestication.</a:t>
            </a:r>
          </a:p>
          <a:p>
            <a:pPr lvl="0" algn="l" eaLnBrk="0" fontAlgn="base" hangingPunct="0">
              <a:spcBef>
                <a:spcPct val="0"/>
              </a:spcBef>
              <a:spcAft>
                <a:spcPct val="0"/>
              </a:spcAft>
              <a:buClrTx/>
            </a:pPr>
            <a:endParaRPr lang="en-GB" altLang="en-US" sz="1400" dirty="0">
              <a:solidFill>
                <a:schemeClr val="tx1"/>
              </a:solidFill>
              <a:latin typeface="Arial" panose="020B0604020202020204" pitchFamily="34" charset="0"/>
            </a:endParaRPr>
          </a:p>
        </p:txBody>
      </p:sp>
      <p:sp>
        <p:nvSpPr>
          <p:cNvPr id="6" name="Title 1">
            <a:extLst>
              <a:ext uri="{FF2B5EF4-FFF2-40B4-BE49-F238E27FC236}">
                <a16:creationId xmlns:a16="http://schemas.microsoft.com/office/drawing/2014/main" id="{C4CB1445-01BC-A341-92DB-9BA40DE895D9}"/>
              </a:ext>
            </a:extLst>
          </p:cNvPr>
          <p:cNvSpPr txBox="1">
            <a:spLocks/>
          </p:cNvSpPr>
          <p:nvPr/>
        </p:nvSpPr>
        <p:spPr bwMode="blackWhite">
          <a:xfrm>
            <a:off x="804672" y="5743954"/>
            <a:ext cx="4486656" cy="1141497"/>
          </a:xfrm>
          <a:prstGeom prst="rect">
            <a:avLst/>
          </a:prstGeom>
          <a:solidFill>
            <a:schemeClr val="accent1">
              <a:lumMod val="60000"/>
              <a:lumOff val="40000"/>
            </a:schemeClr>
          </a:solidFill>
          <a:ln w="31750" cap="sq">
            <a:solidFill>
              <a:srgbClr val="404040"/>
            </a:solidFill>
            <a:miter lim="800000"/>
          </a:ln>
        </p:spPr>
        <p:txBody>
          <a:bodyPr vert="horz" lIns="182880" tIns="182880" rIns="182880" bIns="182880" rtlCol="0" anchor="ctr" anchorCtr="1">
            <a:normAutofit fontScale="92500" lnSpcReduction="10000"/>
          </a:bodyPr>
          <a:lstStyle>
            <a:lvl1pPr algn="ctr" defTabSz="914400" rtl="0" eaLnBrk="1" latinLnBrk="0" hangingPunct="1">
              <a:lnSpc>
                <a:spcPct val="90000"/>
              </a:lnSpc>
              <a:spcBef>
                <a:spcPct val="0"/>
              </a:spcBef>
              <a:buNone/>
              <a:defRPr sz="2200" kern="1200" cap="all" spc="200" baseline="0">
                <a:solidFill>
                  <a:srgbClr val="262626"/>
                </a:solidFill>
                <a:latin typeface="+mj-lt"/>
                <a:ea typeface="+mj-ea"/>
                <a:cs typeface="+mj-cs"/>
              </a:defRPr>
            </a:lvl1pPr>
          </a:lstStyle>
          <a:p>
            <a:r>
              <a:rPr lang="en-US" dirty="0"/>
              <a:t>Boost Me: </a:t>
            </a:r>
            <a:r>
              <a:rPr lang="en-GB" dirty="0"/>
              <a:t>Structures of debate and genetic ratios. </a:t>
            </a:r>
            <a:endParaRPr lang="en-US" dirty="0"/>
          </a:p>
        </p:txBody>
      </p:sp>
    </p:spTree>
    <p:extLst>
      <p:ext uri="{BB962C8B-B14F-4D97-AF65-F5344CB8AC3E}">
        <p14:creationId xmlns:p14="http://schemas.microsoft.com/office/powerpoint/2010/main" val="383232320"/>
      </p:ext>
    </p:extLst>
  </p:cSld>
  <p:clrMapOvr>
    <a:masterClrMapping/>
  </p:clrMapOvr>
</p:sld>
</file>

<file path=ppt/theme/theme1.xml><?xml version="1.0" encoding="utf-8"?>
<a:theme xmlns:a="http://schemas.openxmlformats.org/drawingml/2006/main" name="Parcel">
  <a:themeElements>
    <a:clrScheme name="Parcel">
      <a:dk1>
        <a:srgbClr val="000000"/>
      </a:dk1>
      <a:lt1>
        <a:srgbClr val="FFFFFF"/>
      </a:lt1>
      <a:dk2>
        <a:srgbClr val="4A5356"/>
      </a:dk2>
      <a:lt2>
        <a:srgbClr val="E8E3CE"/>
      </a:lt2>
      <a:accent1>
        <a:srgbClr val="F6A21D"/>
      </a:accent1>
      <a:accent2>
        <a:srgbClr val="9BAFB5"/>
      </a:accent2>
      <a:accent3>
        <a:srgbClr val="C96731"/>
      </a:accent3>
      <a:accent4>
        <a:srgbClr val="9CA383"/>
      </a:accent4>
      <a:accent5>
        <a:srgbClr val="87795D"/>
      </a:accent5>
      <a:accent6>
        <a:srgbClr val="A0988C"/>
      </a:accent6>
      <a:hlink>
        <a:srgbClr val="00B0F0"/>
      </a:hlink>
      <a:folHlink>
        <a:srgbClr val="738F97"/>
      </a:folHlink>
    </a:clrScheme>
    <a:fontScheme name="Parcel">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Parcel">
      <a:fillStyleLst>
        <a:solidFill>
          <a:schemeClr val="phClr"/>
        </a:solidFill>
        <a:gradFill rotWithShape="1">
          <a:gsLst>
            <a:gs pos="0">
              <a:schemeClr val="phClr">
                <a:tint val="80000"/>
                <a:satMod val="107000"/>
                <a:lumMod val="103000"/>
              </a:schemeClr>
            </a:gs>
            <a:gs pos="100000">
              <a:schemeClr val="phClr">
                <a:tint val="82000"/>
                <a:satMod val="109000"/>
                <a:lumMod val="103000"/>
              </a:schemeClr>
            </a:gs>
          </a:gsLst>
          <a:lin ang="5400000" scaled="0"/>
        </a:gradFill>
        <a:gradFill rotWithShape="1">
          <a:gsLst>
            <a:gs pos="0">
              <a:schemeClr val="phClr">
                <a:tint val="97000"/>
                <a:satMod val="100000"/>
                <a:lumMod val="102000"/>
              </a:schemeClr>
            </a:gs>
            <a:gs pos="50000">
              <a:schemeClr val="phClr">
                <a:shade val="100000"/>
                <a:satMod val="103000"/>
                <a:lumMod val="100000"/>
              </a:schemeClr>
            </a:gs>
            <a:gs pos="100000">
              <a:schemeClr val="phClr">
                <a:shade val="93000"/>
                <a:satMod val="110000"/>
                <a:lumMod val="9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31750" cap="flat" cmpd="sng" algn="ctr">
          <a:solidFill>
            <a:schemeClr val="phClr"/>
          </a:solidFill>
          <a:prstDash val="solid"/>
        </a:ln>
      </a:lnStyleLst>
      <a:effectStyleLst>
        <a:effectStyle>
          <a:effectLst/>
        </a:effectStyle>
        <a:effectStyle>
          <a:effectLst/>
        </a:effectStyle>
        <a:effectStyle>
          <a:effectLst>
            <a:outerShdw blurRad="55880" dist="15240" dir="5400000" algn="ctr" rotWithShape="0">
              <a:srgbClr val="000000">
                <a:alpha val="45000"/>
              </a:srgbClr>
            </a:outerShdw>
          </a:effectLst>
          <a:scene3d>
            <a:camera prst="orthographicFront">
              <a:rot lat="0" lon="0" rev="0"/>
            </a:camera>
            <a:lightRig rig="brightRoom" dir="tl"/>
          </a:scene3d>
          <a:sp3d prstMaterial="dkEdge">
            <a:bevelT w="0" h="0"/>
          </a:sp3d>
        </a:effectStyle>
      </a:effectStyleLst>
      <a:bgFillStyleLst>
        <a:solidFill>
          <a:schemeClr val="phClr"/>
        </a:solidFill>
        <a:solidFill>
          <a:schemeClr val="phClr">
            <a:tint val="95000"/>
            <a:satMod val="170000"/>
          </a:schemeClr>
        </a:solidFill>
        <a:gradFill rotWithShape="1">
          <a:gsLst>
            <a:gs pos="0">
              <a:schemeClr val="phClr">
                <a:tint val="97000"/>
                <a:shade val="100000"/>
                <a:satMod val="185000"/>
                <a:lumMod val="120000"/>
              </a:schemeClr>
            </a:gs>
            <a:gs pos="100000">
              <a:schemeClr val="phClr">
                <a:tint val="96000"/>
                <a:shade val="95000"/>
                <a:satMod val="215000"/>
                <a:lumMod val="80000"/>
              </a:schemeClr>
            </a:gs>
          </a:gsLst>
          <a:path path="circle">
            <a:fillToRect l="50000" t="55000" r="125000" b="100000"/>
          </a:path>
        </a:gradFill>
      </a:bgFillStyleLst>
    </a:fmtScheme>
  </a:themeElements>
  <a:objectDefaults/>
  <a:extraClrSchemeLst/>
  <a:extLst>
    <a:ext uri="{05A4C25C-085E-4340-85A3-A5531E510DB2}">
      <thm15:themeFamily xmlns:thm15="http://schemas.microsoft.com/office/thememl/2012/main" name="Parcel" id="{8BEC4385-4EB9-4D53-BFB5-0EA123736B6D}" vid="{4DB32801-28C0-48B0-8C1D-A9A58613615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Parcel</Template>
  <TotalTime>4798</TotalTime>
  <Words>1717</Words>
  <Application>Microsoft Macintosh PowerPoint</Application>
  <PresentationFormat>Widescreen</PresentationFormat>
  <Paragraphs>117</Paragraphs>
  <Slides>8</Slides>
  <Notes>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Arial</vt:lpstr>
      <vt:lpstr>Calibri</vt:lpstr>
      <vt:lpstr>Gill Sans MT</vt:lpstr>
      <vt:lpstr>Parcel</vt:lpstr>
      <vt:lpstr>Welfare and Breeding</vt:lpstr>
      <vt:lpstr>recap</vt:lpstr>
      <vt:lpstr>4 levels of domestication</vt:lpstr>
      <vt:lpstr>4 levels of domestication</vt:lpstr>
      <vt:lpstr>bond</vt:lpstr>
      <vt:lpstr>Reasons for domestication</vt:lpstr>
      <vt:lpstr>Criteria for domestication</vt:lpstr>
      <vt:lpstr>Why do we selectively breed animals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Grooming 12</dc:title>
  <dc:creator>Jordon Millward</dc:creator>
  <cp:lastModifiedBy>Jordon Millward</cp:lastModifiedBy>
  <cp:revision>112</cp:revision>
  <cp:lastPrinted>2019-10-02T13:58:38Z</cp:lastPrinted>
  <dcterms:created xsi:type="dcterms:W3CDTF">2017-11-29T18:08:04Z</dcterms:created>
  <dcterms:modified xsi:type="dcterms:W3CDTF">2019-11-01T08:31:55Z</dcterms:modified>
</cp:coreProperties>
</file>