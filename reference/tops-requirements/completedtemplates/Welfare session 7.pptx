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58" r:id="rId3"/>
    <p:sldId id="259" r:id="rId4"/>
    <p:sldId id="263" r:id="rId5"/>
    <p:sldId id="265" r:id="rId6"/>
    <p:sldId id="266"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777"/>
    <p:restoredTop sz="94665"/>
  </p:normalViewPr>
  <p:slideViewPr>
    <p:cSldViewPr snapToGrid="0" snapToObjects="1">
      <p:cViewPr varScale="1">
        <p:scale>
          <a:sx n="97" d="100"/>
          <a:sy n="97" d="100"/>
        </p:scale>
        <p:origin x="232"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EDE735-C213-4228-8097-E58F4753F4DB}" type="datetimeFigureOut">
              <a:rPr lang="en-GB" smtClean="0"/>
              <a:t>01/11/2019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769FA6-0178-4E1C-B22C-4FEDD5C4BA3B}" type="slidenum">
              <a:rPr lang="en-GB" smtClean="0"/>
              <a:t>‹#›</a:t>
            </a:fld>
            <a:endParaRPr lang="en-GB"/>
          </a:p>
        </p:txBody>
      </p:sp>
    </p:spTree>
    <p:extLst>
      <p:ext uri="{BB962C8B-B14F-4D97-AF65-F5344CB8AC3E}">
        <p14:creationId xmlns:p14="http://schemas.microsoft.com/office/powerpoint/2010/main" val="1207590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Title</a:t>
            </a:r>
            <a:r>
              <a:rPr lang="en-GB" baseline="0" dirty="0"/>
              <a:t> slide outlines the main equipment utilised if any outside of the normal ranges. </a:t>
            </a:r>
            <a:endParaRPr lang="en-GB" dirty="0"/>
          </a:p>
        </p:txBody>
      </p:sp>
      <p:sp>
        <p:nvSpPr>
          <p:cNvPr id="4" name="Slide Number Placeholder 3"/>
          <p:cNvSpPr>
            <a:spLocks noGrp="1"/>
          </p:cNvSpPr>
          <p:nvPr>
            <p:ph type="sldNum" sz="quarter" idx="10"/>
          </p:nvPr>
        </p:nvSpPr>
        <p:spPr/>
        <p:txBody>
          <a:bodyPr/>
          <a:lstStyle/>
          <a:p>
            <a:fld id="{D5769FA6-0178-4E1C-B22C-4FEDD5C4BA3B}" type="slidenum">
              <a:rPr lang="en-GB" smtClean="0"/>
              <a:t>1</a:t>
            </a:fld>
            <a:endParaRPr lang="en-GB"/>
          </a:p>
        </p:txBody>
      </p:sp>
    </p:spTree>
    <p:extLst>
      <p:ext uri="{BB962C8B-B14F-4D97-AF65-F5344CB8AC3E}">
        <p14:creationId xmlns:p14="http://schemas.microsoft.com/office/powerpoint/2010/main" val="1266175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Connect</a:t>
            </a:r>
            <a:r>
              <a:rPr lang="en-GB" baseline="0" dirty="0"/>
              <a:t> activity highlighted red to outline light introduction to topic. </a:t>
            </a:r>
            <a:r>
              <a:rPr lang="en-GB" sz="1200" kern="1200" dirty="0">
                <a:solidFill>
                  <a:schemeClr val="tx1"/>
                </a:solidFill>
                <a:effectLst/>
                <a:latin typeface="+mn-lt"/>
                <a:ea typeface="+mn-ea"/>
                <a:cs typeface="+mn-cs"/>
              </a:rPr>
              <a:t>Students will need to examine how pollution can have either a positive or negative impact on animals. Students will be expected to take detailed notes of potential types of pollution. They need to be able to be able to hypothesise how they have affected previous animal populations and what they predict will affect subsequent populations.</a:t>
            </a:r>
          </a:p>
        </p:txBody>
      </p:sp>
      <p:sp>
        <p:nvSpPr>
          <p:cNvPr id="4" name="Slide Number Placeholder 3"/>
          <p:cNvSpPr>
            <a:spLocks noGrp="1"/>
          </p:cNvSpPr>
          <p:nvPr>
            <p:ph type="sldNum" sz="quarter" idx="10"/>
          </p:nvPr>
        </p:nvSpPr>
        <p:spPr/>
        <p:txBody>
          <a:bodyPr/>
          <a:lstStyle/>
          <a:p>
            <a:fld id="{D5769FA6-0178-4E1C-B22C-4FEDD5C4BA3B}" type="slidenum">
              <a:rPr lang="en-GB" smtClean="0"/>
              <a:t>2</a:t>
            </a:fld>
            <a:endParaRPr lang="en-GB"/>
          </a:p>
        </p:txBody>
      </p:sp>
    </p:spTree>
    <p:extLst>
      <p:ext uri="{BB962C8B-B14F-4D97-AF65-F5344CB8AC3E}">
        <p14:creationId xmlns:p14="http://schemas.microsoft.com/office/powerpoint/2010/main" val="88326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Blue tutor</a:t>
            </a:r>
            <a:r>
              <a:rPr lang="en-GB" baseline="0" dirty="0"/>
              <a:t> or handout led activity more teacher led then student. </a:t>
            </a:r>
            <a:r>
              <a:rPr lang="en-GB" sz="1200" kern="1200" dirty="0">
                <a:solidFill>
                  <a:schemeClr val="tx1"/>
                </a:solidFill>
                <a:effectLst/>
                <a:latin typeface="+mn-lt"/>
                <a:ea typeface="+mn-ea"/>
                <a:cs typeface="+mn-cs"/>
              </a:rPr>
              <a:t>Looking at example non-native species students need to think how these animals affect our native species. They need to be able to identify what makes them invasive and then also be able to argue whether these animals should be left alone or removed as a threat.</a:t>
            </a:r>
          </a:p>
        </p:txBody>
      </p:sp>
      <p:sp>
        <p:nvSpPr>
          <p:cNvPr id="4" name="Slide Number Placeholder 3"/>
          <p:cNvSpPr>
            <a:spLocks noGrp="1"/>
          </p:cNvSpPr>
          <p:nvPr>
            <p:ph type="sldNum" sz="quarter" idx="10"/>
          </p:nvPr>
        </p:nvSpPr>
        <p:spPr/>
        <p:txBody>
          <a:bodyPr/>
          <a:lstStyle/>
          <a:p>
            <a:fld id="{D5769FA6-0178-4E1C-B22C-4FEDD5C4BA3B}" type="slidenum">
              <a:rPr lang="en-GB" smtClean="0"/>
              <a:t>3</a:t>
            </a:fld>
            <a:endParaRPr lang="en-GB"/>
          </a:p>
        </p:txBody>
      </p:sp>
    </p:spTree>
    <p:extLst>
      <p:ext uri="{BB962C8B-B14F-4D97-AF65-F5344CB8AC3E}">
        <p14:creationId xmlns:p14="http://schemas.microsoft.com/office/powerpoint/2010/main" val="1199524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Student</a:t>
            </a:r>
            <a:r>
              <a:rPr lang="en-GB" baseline="0" dirty="0"/>
              <a:t> or group led activities in green. </a:t>
            </a:r>
            <a:r>
              <a:rPr lang="en-GB" sz="1200" kern="1200" dirty="0">
                <a:solidFill>
                  <a:schemeClr val="tx1"/>
                </a:solidFill>
                <a:effectLst/>
                <a:latin typeface="+mn-lt"/>
                <a:ea typeface="+mn-ea"/>
                <a:cs typeface="+mn-cs"/>
              </a:rPr>
              <a:t>Students will examine the evolution of the dog and horse from the miacid and eohippus. Looking at the animals physical features and asking the students to add points from research they conduct to why the animal evolved from its ancestor. Students should be able to note the micro and macroevolutionary changes.</a:t>
            </a:r>
          </a:p>
          <a:p>
            <a:pPr lvl="0"/>
            <a:r>
              <a:rPr lang="en-GB" sz="1200" kern="1200" dirty="0">
                <a:solidFill>
                  <a:schemeClr val="tx1"/>
                </a:solidFill>
                <a:effectLst/>
                <a:latin typeface="+mn-lt"/>
                <a:ea typeface="+mn-ea"/>
                <a:cs typeface="+mn-cs"/>
              </a:rPr>
              <a:t>Students given further examples of how an animal evolves and mutates with examples of genetics. </a:t>
            </a:r>
          </a:p>
        </p:txBody>
      </p:sp>
      <p:sp>
        <p:nvSpPr>
          <p:cNvPr id="4" name="Slide Number Placeholder 3"/>
          <p:cNvSpPr>
            <a:spLocks noGrp="1"/>
          </p:cNvSpPr>
          <p:nvPr>
            <p:ph type="sldNum" sz="quarter" idx="10"/>
          </p:nvPr>
        </p:nvSpPr>
        <p:spPr/>
        <p:txBody>
          <a:bodyPr/>
          <a:lstStyle/>
          <a:p>
            <a:fld id="{D5769FA6-0178-4E1C-B22C-4FEDD5C4BA3B}" type="slidenum">
              <a:rPr lang="en-GB" smtClean="0"/>
              <a:t>4</a:t>
            </a:fld>
            <a:endParaRPr lang="en-GB"/>
          </a:p>
        </p:txBody>
      </p:sp>
    </p:spTree>
    <p:extLst>
      <p:ext uri="{BB962C8B-B14F-4D97-AF65-F5344CB8AC3E}">
        <p14:creationId xmlns:p14="http://schemas.microsoft.com/office/powerpoint/2010/main" val="3331428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Student</a:t>
            </a:r>
            <a:r>
              <a:rPr lang="en-GB" baseline="0" dirty="0"/>
              <a:t> or group led activities in green. </a:t>
            </a:r>
            <a:r>
              <a:rPr lang="en-GB" sz="1200" kern="1200" dirty="0">
                <a:solidFill>
                  <a:schemeClr val="tx1"/>
                </a:solidFill>
                <a:effectLst/>
                <a:latin typeface="+mn-lt"/>
                <a:ea typeface="+mn-ea"/>
                <a:cs typeface="+mn-cs"/>
              </a:rPr>
              <a:t>Students are given four </a:t>
            </a:r>
            <a:r>
              <a:rPr lang="en-GB" sz="1200" kern="1200" dirty="0" err="1">
                <a:solidFill>
                  <a:schemeClr val="tx1"/>
                </a:solidFill>
                <a:effectLst/>
                <a:latin typeface="+mn-lt"/>
                <a:ea typeface="+mn-ea"/>
                <a:cs typeface="+mn-cs"/>
              </a:rPr>
              <a:t>exampler</a:t>
            </a:r>
            <a:r>
              <a:rPr lang="en-GB" sz="1200" kern="1200" dirty="0">
                <a:solidFill>
                  <a:schemeClr val="tx1"/>
                </a:solidFill>
                <a:effectLst/>
                <a:latin typeface="+mn-lt"/>
                <a:ea typeface="+mn-ea"/>
                <a:cs typeface="+mn-cs"/>
              </a:rPr>
              <a:t> pollution types to examine. Noise and light / air / pesticides and fertilizers / ocean litter. They need to think of where this has affected different animal species vs what affect this is still having on animal species. Students need to be able to discern this comparison and identify examples of how animals are or have adapted to a change in their environment. Students should research example adaptations animals are using some that have well adapted and others that are struggling to adapt to change for these animals. </a:t>
            </a:r>
          </a:p>
          <a:p>
            <a:pPr lvl="0"/>
            <a:r>
              <a:rPr lang="en-GB" sz="1200" kern="1200" dirty="0">
                <a:solidFill>
                  <a:schemeClr val="tx1"/>
                </a:solidFill>
                <a:effectLst/>
                <a:latin typeface="+mn-lt"/>
                <a:ea typeface="+mn-ea"/>
                <a:cs typeface="+mn-cs"/>
              </a:rPr>
              <a:t>Following this group task they need to identify why this affect is being noted and how we can alleviate some of these affects. </a:t>
            </a:r>
          </a:p>
          <a:p>
            <a:pPr lvl="0"/>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5769FA6-0178-4E1C-B22C-4FEDD5C4BA3B}" type="slidenum">
              <a:rPr lang="en-GB" smtClean="0"/>
              <a:t>5</a:t>
            </a:fld>
            <a:endParaRPr lang="en-GB"/>
          </a:p>
        </p:txBody>
      </p:sp>
    </p:spTree>
    <p:extLst>
      <p:ext uri="{BB962C8B-B14F-4D97-AF65-F5344CB8AC3E}">
        <p14:creationId xmlns:p14="http://schemas.microsoft.com/office/powerpoint/2010/main" val="217223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Student</a:t>
            </a:r>
            <a:r>
              <a:rPr lang="en-GB" baseline="0" dirty="0"/>
              <a:t> or group led activities in green. </a:t>
            </a:r>
            <a:r>
              <a:rPr lang="en-GB" sz="1200" kern="1200" dirty="0">
                <a:solidFill>
                  <a:schemeClr val="tx1"/>
                </a:solidFill>
                <a:effectLst/>
                <a:latin typeface="+mn-lt"/>
                <a:ea typeface="+mn-ea"/>
                <a:cs typeface="+mn-cs"/>
              </a:rPr>
              <a:t>Students should research example adaptations animals are using some that have well adapted and others that are struggling to adapt to change for these animals. </a:t>
            </a:r>
          </a:p>
          <a:p>
            <a:pPr lvl="0"/>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5769FA6-0178-4E1C-B22C-4FEDD5C4BA3B}" type="slidenum">
              <a:rPr lang="en-GB" smtClean="0"/>
              <a:t>6</a:t>
            </a:fld>
            <a:endParaRPr lang="en-GB"/>
          </a:p>
        </p:txBody>
      </p:sp>
    </p:spTree>
    <p:extLst>
      <p:ext uri="{BB962C8B-B14F-4D97-AF65-F5344CB8AC3E}">
        <p14:creationId xmlns:p14="http://schemas.microsoft.com/office/powerpoint/2010/main" val="404080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Recap</a:t>
            </a:r>
            <a:r>
              <a:rPr lang="en-GB" baseline="0" dirty="0"/>
              <a:t> based or concluding activity. </a:t>
            </a:r>
            <a:r>
              <a:rPr lang="en-GB" sz="1200" kern="1200" dirty="0">
                <a:solidFill>
                  <a:schemeClr val="tx1"/>
                </a:solidFill>
                <a:effectLst/>
                <a:latin typeface="+mn-lt"/>
                <a:ea typeface="+mn-ea"/>
                <a:cs typeface="+mn-cs"/>
              </a:rPr>
              <a:t>Following this group task they need to identify why this affect is being noted and how we can alleviate some of these affects. </a:t>
            </a:r>
          </a:p>
          <a:p>
            <a:pPr lvl="0"/>
            <a:r>
              <a:rPr lang="en-GB" sz="1200" kern="1200" dirty="0">
                <a:solidFill>
                  <a:schemeClr val="tx1"/>
                </a:solidFill>
                <a:effectLst/>
                <a:latin typeface="+mn-lt"/>
                <a:ea typeface="+mn-ea"/>
                <a:cs typeface="+mn-cs"/>
              </a:rPr>
              <a:t>This will lead on to a presentation looking at the extinction of an animal from natural disasters, over exploitation, hunting or disease.</a:t>
            </a:r>
          </a:p>
          <a:p>
            <a:endParaRPr lang="en-GB" dirty="0"/>
          </a:p>
        </p:txBody>
      </p:sp>
      <p:sp>
        <p:nvSpPr>
          <p:cNvPr id="4" name="Slide Number Placeholder 3"/>
          <p:cNvSpPr>
            <a:spLocks noGrp="1"/>
          </p:cNvSpPr>
          <p:nvPr>
            <p:ph type="sldNum" sz="quarter" idx="10"/>
          </p:nvPr>
        </p:nvSpPr>
        <p:spPr/>
        <p:txBody>
          <a:bodyPr/>
          <a:lstStyle/>
          <a:p>
            <a:fld id="{D5769FA6-0178-4E1C-B22C-4FEDD5C4BA3B}" type="slidenum">
              <a:rPr lang="en-GB" smtClean="0"/>
              <a:t>7</a:t>
            </a:fld>
            <a:endParaRPr lang="en-GB"/>
          </a:p>
        </p:txBody>
      </p:sp>
    </p:spTree>
    <p:extLst>
      <p:ext uri="{BB962C8B-B14F-4D97-AF65-F5344CB8AC3E}">
        <p14:creationId xmlns:p14="http://schemas.microsoft.com/office/powerpoint/2010/main" val="2103721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11/1/19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11/1/19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8A87A34-81AB-432B-8DAE-1953F412C126}" type="datetimeFigureOut">
              <a:rPr lang="en-US" smtClean="0"/>
              <a:t>11/1/19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8A87A34-81AB-432B-8DAE-1953F412C126}" type="datetimeFigureOut">
              <a:rPr lang="en-US" smtClean="0"/>
              <a:t>11/1/19</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8A87A34-81AB-432B-8DAE-1953F412C126}" type="datetimeFigureOut">
              <a:rPr lang="en-US" smtClean="0"/>
              <a:t>11/1/19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11/1/19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11/1/19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48A87A34-81AB-432B-8DAE-1953F412C126}" type="datetimeFigureOut">
              <a:rPr lang="en-US" smtClean="0"/>
              <a:t>11/1/19</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8A87A34-81AB-432B-8DAE-1953F412C126}" type="datetimeFigureOut">
              <a:rPr lang="en-US" smtClean="0"/>
              <a:t>11/1/19</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11/1/19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11/1/19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48A87A34-81AB-432B-8DAE-1953F412C126}" type="datetimeFigureOut">
              <a:rPr lang="en-US" smtClean="0"/>
              <a:pPr/>
              <a:t>11/1/19</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7494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welfare</a:t>
            </a:r>
          </a:p>
        </p:txBody>
      </p:sp>
      <p:sp>
        <p:nvSpPr>
          <p:cNvPr id="3" name="Subtitle 2"/>
          <p:cNvSpPr>
            <a:spLocks noGrp="1"/>
          </p:cNvSpPr>
          <p:nvPr>
            <p:ph type="subTitle" idx="1"/>
          </p:nvPr>
        </p:nvSpPr>
        <p:spPr/>
        <p:txBody>
          <a:bodyPr/>
          <a:lstStyle/>
          <a:p>
            <a:r>
              <a:rPr lang="en-US" dirty="0"/>
              <a:t>Session 7</a:t>
            </a:r>
          </a:p>
        </p:txBody>
      </p:sp>
    </p:spTree>
    <p:extLst>
      <p:ext uri="{BB962C8B-B14F-4D97-AF65-F5344CB8AC3E}">
        <p14:creationId xmlns:p14="http://schemas.microsoft.com/office/powerpoint/2010/main" val="1276425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lstStyle/>
          <a:p>
            <a:r>
              <a:rPr lang="en-US" dirty="0"/>
              <a:t>pollutants</a:t>
            </a:r>
          </a:p>
        </p:txBody>
      </p:sp>
      <p:sp>
        <p:nvSpPr>
          <p:cNvPr id="4" name="Content Placeholder 3"/>
          <p:cNvSpPr>
            <a:spLocks noGrp="1"/>
          </p:cNvSpPr>
          <p:nvPr>
            <p:ph idx="1"/>
          </p:nvPr>
        </p:nvSpPr>
        <p:spPr>
          <a:xfrm>
            <a:off x="6096000" y="-1"/>
            <a:ext cx="6096000" cy="6885451"/>
          </a:xfrm>
        </p:spPr>
        <p:txBody>
          <a:bodyPr>
            <a:noAutofit/>
          </a:bodyPr>
          <a:lstStyle/>
          <a:p>
            <a:r>
              <a:rPr lang="en-GB" sz="2000" dirty="0"/>
              <a:t>Looking at how pollution can impact animal welfare I want you to mind map the initial areas or types of pollution that you think will have an impact on animals.</a:t>
            </a:r>
          </a:p>
          <a:p>
            <a:r>
              <a:rPr lang="en-GB" sz="2000" dirty="0"/>
              <a:t>From these off shoots can you identify any animal that has adapted to these pollutants are their any systems that can’t allow animals to adapt.</a:t>
            </a:r>
          </a:p>
          <a:p>
            <a:pPr lvl="1"/>
            <a:r>
              <a:rPr lang="en-GB" sz="1800" dirty="0"/>
              <a:t>Littering</a:t>
            </a:r>
          </a:p>
          <a:p>
            <a:pPr lvl="1"/>
            <a:r>
              <a:rPr lang="en-GB" sz="1800" dirty="0"/>
              <a:t>Soil</a:t>
            </a:r>
          </a:p>
          <a:p>
            <a:pPr lvl="1"/>
            <a:r>
              <a:rPr lang="en-GB" sz="1800" dirty="0"/>
              <a:t>Radiation</a:t>
            </a:r>
          </a:p>
          <a:p>
            <a:pPr lvl="1"/>
            <a:r>
              <a:rPr lang="en-GB" sz="1800" dirty="0"/>
              <a:t>Water</a:t>
            </a:r>
          </a:p>
          <a:p>
            <a:pPr lvl="1"/>
            <a:r>
              <a:rPr lang="en-GB" sz="1800" dirty="0"/>
              <a:t>Visual</a:t>
            </a:r>
          </a:p>
          <a:p>
            <a:pPr lvl="1"/>
            <a:r>
              <a:rPr lang="en-GB" sz="1800" dirty="0"/>
              <a:t>Thermal</a:t>
            </a:r>
          </a:p>
          <a:p>
            <a:pPr lvl="1"/>
            <a:r>
              <a:rPr lang="en-GB" sz="1800" dirty="0"/>
              <a:t>Noise</a:t>
            </a:r>
          </a:p>
          <a:p>
            <a:pPr lvl="1"/>
            <a:r>
              <a:rPr lang="en-GB" sz="1800" dirty="0"/>
              <a:t>Plastic</a:t>
            </a:r>
          </a:p>
          <a:p>
            <a:pPr lvl="1"/>
            <a:r>
              <a:rPr lang="en-GB" sz="1800" dirty="0"/>
              <a:t>Light</a:t>
            </a:r>
          </a:p>
          <a:p>
            <a:pPr lvl="1"/>
            <a:r>
              <a:rPr lang="en-GB" sz="1800" dirty="0"/>
              <a:t>Air</a:t>
            </a:r>
          </a:p>
        </p:txBody>
      </p:sp>
      <p:sp>
        <p:nvSpPr>
          <p:cNvPr id="5" name="Text Placeholder 4"/>
          <p:cNvSpPr>
            <a:spLocks noGrp="1"/>
          </p:cNvSpPr>
          <p:nvPr>
            <p:ph type="body" sz="half" idx="2"/>
          </p:nvPr>
        </p:nvSpPr>
        <p:spPr/>
        <p:txBody>
          <a:bodyPr>
            <a:normAutofit lnSpcReduction="10000"/>
          </a:bodyPr>
          <a:lstStyle/>
          <a:p>
            <a:pPr lvl="0"/>
            <a:r>
              <a:rPr lang="en-GB" sz="1600" dirty="0">
                <a:solidFill>
                  <a:schemeClr val="tx1"/>
                </a:solidFill>
              </a:rPr>
              <a:t>Examine some of the causes of evolution and the subsequent effects that they have had.</a:t>
            </a:r>
          </a:p>
          <a:p>
            <a:pPr lvl="0"/>
            <a:r>
              <a:rPr lang="en-GB" sz="1600" dirty="0">
                <a:solidFill>
                  <a:schemeClr val="tx1"/>
                </a:solidFill>
              </a:rPr>
              <a:t>Explain the affect that a non-native species can have on a population of animals.</a:t>
            </a:r>
          </a:p>
          <a:p>
            <a:r>
              <a:rPr lang="en-GB" sz="1600" dirty="0">
                <a:solidFill>
                  <a:schemeClr val="tx1"/>
                </a:solidFill>
              </a:rPr>
              <a:t>Evaluate the impact that man made, and natural disasters can have on species both abstract and specific. </a:t>
            </a:r>
            <a:endParaRPr lang="en-GB" sz="1600" dirty="0"/>
          </a:p>
          <a:p>
            <a:endParaRPr lang="en-GB" sz="1600" dirty="0">
              <a:solidFill>
                <a:schemeClr val="tx1"/>
              </a:solidFill>
            </a:endParaRPr>
          </a:p>
        </p:txBody>
      </p:sp>
      <p:sp>
        <p:nvSpPr>
          <p:cNvPr id="6" name="Title 1">
            <a:extLst>
              <a:ext uri="{FF2B5EF4-FFF2-40B4-BE49-F238E27FC236}">
                <a16:creationId xmlns:a16="http://schemas.microsoft.com/office/drawing/2014/main" id="{58382D98-7682-0D43-9570-FDE7CDE74329}"/>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Presentation skills &amp; Research. </a:t>
            </a:r>
            <a:endParaRPr lang="en-US" dirty="0"/>
          </a:p>
        </p:txBody>
      </p:sp>
    </p:spTree>
    <p:extLst>
      <p:ext uri="{BB962C8B-B14F-4D97-AF65-F5344CB8AC3E}">
        <p14:creationId xmlns:p14="http://schemas.microsoft.com/office/powerpoint/2010/main" val="2037953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 calcmode="lin" valueType="num">
                                      <p:cBhvr additive="base">
                                        <p:cTn id="1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anim calcmode="lin" valueType="num">
                                      <p:cBhvr additive="base">
                                        <p:cTn id="4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anim calcmode="lin" valueType="num">
                                      <p:cBhvr additive="base">
                                        <p:cTn id="4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anim calcmode="lin" valueType="num">
                                      <p:cBhvr additive="base">
                                        <p:cTn id="55"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11" end="11"/>
                                            </p:txEl>
                                          </p:spTgt>
                                        </p:tgtEl>
                                        <p:attrNameLst>
                                          <p:attrName>style.visibility</p:attrName>
                                        </p:attrNameLst>
                                      </p:cBhvr>
                                      <p:to>
                                        <p:strVal val="visible"/>
                                      </p:to>
                                    </p:set>
                                    <p:anim calcmode="lin" valueType="num">
                                      <p:cBhvr additive="base">
                                        <p:cTn id="61"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00B0F0"/>
          </a:solidFill>
        </p:spPr>
        <p:txBody>
          <a:bodyPr/>
          <a:lstStyle/>
          <a:p>
            <a:r>
              <a:rPr lang="en-GB" dirty="0"/>
              <a:t>Invasive species’</a:t>
            </a:r>
          </a:p>
        </p:txBody>
      </p:sp>
      <p:sp>
        <p:nvSpPr>
          <p:cNvPr id="5" name="Text Placeholder 4"/>
          <p:cNvSpPr>
            <a:spLocks noGrp="1"/>
          </p:cNvSpPr>
          <p:nvPr>
            <p:ph type="body" sz="half" idx="2"/>
          </p:nvPr>
        </p:nvSpPr>
        <p:spPr/>
        <p:txBody>
          <a:bodyPr>
            <a:normAutofit/>
          </a:bodyPr>
          <a:lstStyle/>
          <a:p>
            <a:pPr lvl="0"/>
            <a:r>
              <a:rPr lang="en-GB" sz="1400" dirty="0">
                <a:solidFill>
                  <a:schemeClr val="tx1"/>
                </a:solidFill>
              </a:rPr>
              <a:t>Examine some of the causes of evolution and the subsequent effects that they have had.</a:t>
            </a:r>
          </a:p>
          <a:p>
            <a:pPr lvl="0"/>
            <a:r>
              <a:rPr lang="en-GB" sz="1400" dirty="0">
                <a:solidFill>
                  <a:schemeClr val="tx1"/>
                </a:solidFill>
              </a:rPr>
              <a:t>Explain the affect that a non-native species can have on a population of animals.</a:t>
            </a:r>
          </a:p>
          <a:p>
            <a:r>
              <a:rPr lang="en-GB" sz="1400" dirty="0">
                <a:solidFill>
                  <a:schemeClr val="tx1"/>
                </a:solidFill>
              </a:rPr>
              <a:t>Evaluate the impact that man made, and natural disasters can have on species both abstract and specific. </a:t>
            </a:r>
            <a:endParaRPr lang="en-GB" sz="1400" dirty="0"/>
          </a:p>
          <a:p>
            <a:endParaRPr lang="en-GB" sz="1400" dirty="0">
              <a:solidFill>
                <a:schemeClr val="tx1"/>
              </a:solidFill>
            </a:endParaRPr>
          </a:p>
          <a:p>
            <a:endParaRPr lang="en-GB" b="1" dirty="0">
              <a:solidFill>
                <a:schemeClr val="tx1"/>
              </a:solidFill>
            </a:endParaRPr>
          </a:p>
        </p:txBody>
      </p:sp>
      <p:sp>
        <p:nvSpPr>
          <p:cNvPr id="6" name="Title 1">
            <a:extLst>
              <a:ext uri="{FF2B5EF4-FFF2-40B4-BE49-F238E27FC236}">
                <a16:creationId xmlns:a16="http://schemas.microsoft.com/office/drawing/2014/main" id="{D3C61E50-8AC5-8D41-B342-07440162F683}"/>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Presentation skills &amp; Research. </a:t>
            </a:r>
            <a:endParaRPr lang="en-US" dirty="0"/>
          </a:p>
        </p:txBody>
      </p:sp>
      <p:sp>
        <p:nvSpPr>
          <p:cNvPr id="2" name="Content Placeholder 1">
            <a:extLst>
              <a:ext uri="{FF2B5EF4-FFF2-40B4-BE49-F238E27FC236}">
                <a16:creationId xmlns:a16="http://schemas.microsoft.com/office/drawing/2014/main" id="{3BC87C80-E0B3-CE4B-A831-E9FE219CD211}"/>
              </a:ext>
            </a:extLst>
          </p:cNvPr>
          <p:cNvSpPr>
            <a:spLocks noGrp="1"/>
          </p:cNvSpPr>
          <p:nvPr>
            <p:ph idx="1"/>
          </p:nvPr>
        </p:nvSpPr>
        <p:spPr>
          <a:xfrm>
            <a:off x="6736080" y="804672"/>
            <a:ext cx="4815840" cy="5248656"/>
          </a:xfrm>
        </p:spPr>
        <p:txBody>
          <a:bodyPr>
            <a:normAutofit fontScale="70000" lnSpcReduction="20000"/>
          </a:bodyPr>
          <a:lstStyle/>
          <a:p>
            <a:r>
              <a:rPr lang="en-GB" sz="2400" dirty="0"/>
              <a:t>Non-native species cause changes in the ecosystems to which they are introduced. These changes, or some of them, are usually termed impacts; they can be manifold and potentially damaging to ecosystems and biodiversity. </a:t>
            </a:r>
          </a:p>
          <a:p>
            <a:r>
              <a:rPr lang="en-GB" sz="2400" dirty="0"/>
              <a:t>However, the impacts of most non-native species are poorly understood, and a synthesis of available information is being hindered because authors often do not clearly define impact. It is argued that explicitly defining the impact of non-native species will promote progress toward a better understanding of the implications of changes to biodiversity and ecosystems caused by non-native species </a:t>
            </a:r>
          </a:p>
          <a:p>
            <a:r>
              <a:rPr lang="en-US" sz="2400" dirty="0"/>
              <a:t>How do nonnative animals affect other populations a nonnative animal is an animal which is not originally found in that region.</a:t>
            </a:r>
          </a:p>
          <a:p>
            <a:r>
              <a:rPr lang="en-US" sz="2400" dirty="0"/>
              <a:t>Therefore using example animals from different regional areas.</a:t>
            </a:r>
          </a:p>
          <a:p>
            <a:r>
              <a:rPr lang="en-GB" sz="2400" dirty="0"/>
              <a:t>Look at Goats in Galapagos and Cats in New Zealand what are their impacts. </a:t>
            </a:r>
            <a:endParaRPr lang="en-GB" dirty="0"/>
          </a:p>
        </p:txBody>
      </p:sp>
    </p:spTree>
    <p:extLst>
      <p:ext uri="{BB962C8B-B14F-4D97-AF65-F5344CB8AC3E}">
        <p14:creationId xmlns:p14="http://schemas.microsoft.com/office/powerpoint/2010/main" val="479432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92D050"/>
          </a:solidFill>
        </p:spPr>
        <p:txBody>
          <a:bodyPr/>
          <a:lstStyle/>
          <a:p>
            <a:r>
              <a:rPr lang="en-GB" dirty="0"/>
              <a:t>Evolutionary change </a:t>
            </a:r>
          </a:p>
        </p:txBody>
      </p:sp>
      <p:sp>
        <p:nvSpPr>
          <p:cNvPr id="5" name="Content Placeholder 4"/>
          <p:cNvSpPr>
            <a:spLocks noGrp="1"/>
          </p:cNvSpPr>
          <p:nvPr>
            <p:ph idx="1"/>
          </p:nvPr>
        </p:nvSpPr>
        <p:spPr/>
        <p:txBody>
          <a:bodyPr/>
          <a:lstStyle/>
          <a:p>
            <a:pPr lvl="0"/>
            <a:r>
              <a:rPr lang="en-GB" dirty="0"/>
              <a:t>Conduct research and create a cladogram timeline of the </a:t>
            </a:r>
            <a:r>
              <a:rPr lang="en-GB" dirty="0" err="1"/>
              <a:t>miocid</a:t>
            </a:r>
            <a:r>
              <a:rPr lang="en-GB" dirty="0"/>
              <a:t> to the dog or the eohippus to the horse. What were their microevolutions and what were the jumps in their evolution. </a:t>
            </a:r>
          </a:p>
          <a:p>
            <a:pPr lvl="0"/>
            <a:r>
              <a:rPr lang="en-GB" dirty="0"/>
              <a:t>You are at this stage only looking at physical features. </a:t>
            </a:r>
          </a:p>
          <a:p>
            <a:pPr lvl="0"/>
            <a:r>
              <a:rPr lang="en-GB" dirty="0"/>
              <a:t>Looking at genetics you need to be able understand the following points</a:t>
            </a:r>
          </a:p>
          <a:p>
            <a:pPr lvl="1"/>
            <a:r>
              <a:rPr lang="en-GB" dirty="0"/>
              <a:t>Genes</a:t>
            </a:r>
          </a:p>
          <a:p>
            <a:pPr lvl="1"/>
            <a:r>
              <a:rPr lang="en-GB" dirty="0"/>
              <a:t>Inheritance</a:t>
            </a:r>
          </a:p>
          <a:p>
            <a:pPr lvl="1"/>
            <a:r>
              <a:rPr lang="en-GB" dirty="0"/>
              <a:t>Stability </a:t>
            </a:r>
          </a:p>
          <a:p>
            <a:pPr lvl="1"/>
            <a:r>
              <a:rPr lang="en-GB" dirty="0"/>
              <a:t>Variation</a:t>
            </a:r>
          </a:p>
          <a:p>
            <a:pPr lvl="1"/>
            <a:r>
              <a:rPr lang="en-GB" dirty="0"/>
              <a:t>Environment</a:t>
            </a:r>
          </a:p>
          <a:p>
            <a:pPr lvl="1"/>
            <a:r>
              <a:rPr lang="en-GB" dirty="0"/>
              <a:t>Family</a:t>
            </a:r>
          </a:p>
        </p:txBody>
      </p:sp>
      <p:sp>
        <p:nvSpPr>
          <p:cNvPr id="6" name="Text Placeholder 5"/>
          <p:cNvSpPr>
            <a:spLocks noGrp="1"/>
          </p:cNvSpPr>
          <p:nvPr>
            <p:ph type="body" sz="half" idx="2"/>
          </p:nvPr>
        </p:nvSpPr>
        <p:spPr/>
        <p:txBody>
          <a:bodyPr>
            <a:normAutofit/>
          </a:bodyPr>
          <a:lstStyle/>
          <a:p>
            <a:pPr lvl="0"/>
            <a:r>
              <a:rPr lang="en-GB" sz="1400" dirty="0">
                <a:solidFill>
                  <a:schemeClr val="tx1"/>
                </a:solidFill>
              </a:rPr>
              <a:t>Examine some of the causes of evolution and the subsequent effects that they have had.</a:t>
            </a:r>
          </a:p>
          <a:p>
            <a:pPr lvl="0"/>
            <a:r>
              <a:rPr lang="en-GB" sz="1400" dirty="0">
                <a:solidFill>
                  <a:schemeClr val="tx1"/>
                </a:solidFill>
              </a:rPr>
              <a:t>Explain the affect that a non-native species can have on a population of animals.</a:t>
            </a:r>
          </a:p>
          <a:p>
            <a:r>
              <a:rPr lang="en-GB" sz="1400" dirty="0">
                <a:solidFill>
                  <a:schemeClr val="tx1"/>
                </a:solidFill>
              </a:rPr>
              <a:t>Evaluate the impact that man made, and natural disasters can have on species both abstract and specific. </a:t>
            </a:r>
            <a:endParaRPr lang="en-GB" sz="1400" dirty="0"/>
          </a:p>
          <a:p>
            <a:endParaRPr lang="en-GB" sz="1400" dirty="0">
              <a:solidFill>
                <a:schemeClr val="tx1"/>
              </a:solidFill>
            </a:endParaRPr>
          </a:p>
          <a:p>
            <a:endParaRPr lang="en-GB" b="1" dirty="0">
              <a:solidFill>
                <a:schemeClr val="tx1"/>
              </a:solidFill>
            </a:endParaRPr>
          </a:p>
        </p:txBody>
      </p:sp>
      <p:sp>
        <p:nvSpPr>
          <p:cNvPr id="7" name="Title 1">
            <a:extLst>
              <a:ext uri="{FF2B5EF4-FFF2-40B4-BE49-F238E27FC236}">
                <a16:creationId xmlns:a16="http://schemas.microsoft.com/office/drawing/2014/main" id="{374E0B9D-B59E-C142-AC3F-7F10C97BCC83}"/>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Presentation skills &amp; Research. </a:t>
            </a:r>
            <a:endParaRPr lang="en-US" dirty="0"/>
          </a:p>
        </p:txBody>
      </p:sp>
      <p:pic>
        <p:nvPicPr>
          <p:cNvPr id="2" name="Picture 1">
            <a:extLst>
              <a:ext uri="{FF2B5EF4-FFF2-40B4-BE49-F238E27FC236}">
                <a16:creationId xmlns:a16="http://schemas.microsoft.com/office/drawing/2014/main" id="{94CA1CA3-8C3A-9F47-B7B9-5DFB3D3A8FAE}"/>
              </a:ext>
            </a:extLst>
          </p:cNvPr>
          <p:cNvPicPr>
            <a:picLocks noChangeAspect="1"/>
          </p:cNvPicPr>
          <p:nvPr/>
        </p:nvPicPr>
        <p:blipFill>
          <a:blip r:embed="rId3"/>
          <a:stretch>
            <a:fillRect/>
          </a:stretch>
        </p:blipFill>
        <p:spPr>
          <a:xfrm>
            <a:off x="8772938" y="3710609"/>
            <a:ext cx="3419061" cy="3130826"/>
          </a:xfrm>
          <a:prstGeom prst="rect">
            <a:avLst/>
          </a:prstGeom>
        </p:spPr>
      </p:pic>
      <p:sp>
        <p:nvSpPr>
          <p:cNvPr id="9" name="Oval 8">
            <a:extLst>
              <a:ext uri="{FF2B5EF4-FFF2-40B4-BE49-F238E27FC236}">
                <a16:creationId xmlns:a16="http://schemas.microsoft.com/office/drawing/2014/main" id="{064F9176-1089-1F43-B8C6-F0EE0E4FE998}"/>
              </a:ext>
            </a:extLst>
          </p:cNvPr>
          <p:cNvSpPr/>
          <p:nvPr/>
        </p:nvSpPr>
        <p:spPr>
          <a:xfrm>
            <a:off x="4043772" y="87932"/>
            <a:ext cx="2052228" cy="2052228"/>
          </a:xfrm>
          <a:prstGeom prst="ellipse">
            <a:avLst/>
          </a:prstGeom>
          <a:solidFill>
            <a:srgbClr val="33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2060"/>
              </a:solidFill>
            </a:endParaRPr>
          </a:p>
        </p:txBody>
      </p:sp>
    </p:spTree>
    <p:extLst>
      <p:ext uri="{BB962C8B-B14F-4D97-AF65-F5344CB8AC3E}">
        <p14:creationId xmlns:p14="http://schemas.microsoft.com/office/powerpoint/2010/main" val="84496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600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92D050"/>
          </a:solidFill>
        </p:spPr>
        <p:txBody>
          <a:bodyPr/>
          <a:lstStyle/>
          <a:p>
            <a:r>
              <a:rPr lang="en-GB" dirty="0"/>
              <a:t>adaptation</a:t>
            </a:r>
          </a:p>
        </p:txBody>
      </p:sp>
      <p:sp>
        <p:nvSpPr>
          <p:cNvPr id="5" name="Content Placeholder 4"/>
          <p:cNvSpPr>
            <a:spLocks noGrp="1"/>
          </p:cNvSpPr>
          <p:nvPr>
            <p:ph idx="1"/>
          </p:nvPr>
        </p:nvSpPr>
        <p:spPr/>
        <p:txBody>
          <a:bodyPr/>
          <a:lstStyle/>
          <a:p>
            <a:pPr lvl="0"/>
            <a:r>
              <a:rPr lang="en-GB" sz="2000" dirty="0"/>
              <a:t>You need to think of where this has affected different animal species as well as to what degree there are always winners and loser. Have some animals adapted or are they still adapting. </a:t>
            </a:r>
          </a:p>
          <a:p>
            <a:pPr lvl="0"/>
            <a:r>
              <a:rPr lang="en-GB" sz="2000" dirty="0"/>
              <a:t>How is the animal changing or not changing?</a:t>
            </a:r>
          </a:p>
          <a:p>
            <a:pPr lvl="0"/>
            <a:r>
              <a:rPr lang="en-GB" sz="2000" dirty="0"/>
              <a:t>What affect this is having on it?</a:t>
            </a:r>
          </a:p>
          <a:p>
            <a:pPr lvl="0"/>
            <a:r>
              <a:rPr lang="en-GB" sz="2000" dirty="0"/>
              <a:t>Why is it able to change?</a:t>
            </a:r>
          </a:p>
          <a:p>
            <a:pPr lvl="0"/>
            <a:r>
              <a:rPr lang="en-GB" sz="2000" dirty="0"/>
              <a:t>Where has this change been noted?</a:t>
            </a:r>
          </a:p>
          <a:p>
            <a:pPr lvl="0"/>
            <a:r>
              <a:rPr lang="en-GB" sz="2000" dirty="0"/>
              <a:t>When did the changes occur?</a:t>
            </a:r>
          </a:p>
        </p:txBody>
      </p:sp>
      <p:sp>
        <p:nvSpPr>
          <p:cNvPr id="6" name="Text Placeholder 5"/>
          <p:cNvSpPr>
            <a:spLocks noGrp="1"/>
          </p:cNvSpPr>
          <p:nvPr>
            <p:ph type="body" sz="half" idx="2"/>
          </p:nvPr>
        </p:nvSpPr>
        <p:spPr/>
        <p:txBody>
          <a:bodyPr>
            <a:normAutofit/>
          </a:bodyPr>
          <a:lstStyle/>
          <a:p>
            <a:pPr lvl="0"/>
            <a:r>
              <a:rPr lang="en-GB" sz="1400" dirty="0">
                <a:solidFill>
                  <a:schemeClr val="tx1"/>
                </a:solidFill>
              </a:rPr>
              <a:t>Examine some of the causes of evolution and the subsequent effects that they have had.</a:t>
            </a:r>
          </a:p>
          <a:p>
            <a:pPr lvl="0"/>
            <a:r>
              <a:rPr lang="en-GB" sz="1400" dirty="0">
                <a:solidFill>
                  <a:schemeClr val="tx1"/>
                </a:solidFill>
              </a:rPr>
              <a:t>Explain the affect that a non-native species can have on a population of animals.</a:t>
            </a:r>
          </a:p>
          <a:p>
            <a:r>
              <a:rPr lang="en-GB" sz="1400" dirty="0">
                <a:solidFill>
                  <a:schemeClr val="tx1"/>
                </a:solidFill>
              </a:rPr>
              <a:t>Evaluate the impact that man made, and natural disasters can have on species both abstract and specific. </a:t>
            </a:r>
            <a:endParaRPr lang="en-GB" sz="1400" dirty="0"/>
          </a:p>
          <a:p>
            <a:endParaRPr lang="en-GB" sz="1400" dirty="0">
              <a:solidFill>
                <a:schemeClr val="tx1"/>
              </a:solidFill>
            </a:endParaRPr>
          </a:p>
          <a:p>
            <a:endParaRPr lang="en-GB" b="1" dirty="0">
              <a:solidFill>
                <a:schemeClr val="tx1"/>
              </a:solidFill>
            </a:endParaRPr>
          </a:p>
        </p:txBody>
      </p:sp>
      <p:sp>
        <p:nvSpPr>
          <p:cNvPr id="7" name="Title 1">
            <a:extLst>
              <a:ext uri="{FF2B5EF4-FFF2-40B4-BE49-F238E27FC236}">
                <a16:creationId xmlns:a16="http://schemas.microsoft.com/office/drawing/2014/main" id="{374E0B9D-B59E-C142-AC3F-7F10C97BCC83}"/>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Presentation skills &amp; Research. </a:t>
            </a:r>
            <a:endParaRPr lang="en-US" dirty="0"/>
          </a:p>
        </p:txBody>
      </p:sp>
      <p:sp>
        <p:nvSpPr>
          <p:cNvPr id="8" name="Oval 7"/>
          <p:cNvSpPr/>
          <p:nvPr/>
        </p:nvSpPr>
        <p:spPr>
          <a:xfrm>
            <a:off x="3884214" y="76217"/>
            <a:ext cx="2052228" cy="205222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2060"/>
              </a:solidFill>
            </a:endParaRPr>
          </a:p>
        </p:txBody>
      </p:sp>
    </p:spTree>
    <p:extLst>
      <p:ext uri="{BB962C8B-B14F-4D97-AF65-F5344CB8AC3E}">
        <p14:creationId xmlns:p14="http://schemas.microsoft.com/office/powerpoint/2010/main" val="250161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120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92D050"/>
          </a:solidFill>
        </p:spPr>
        <p:txBody>
          <a:bodyPr/>
          <a:lstStyle/>
          <a:p>
            <a:r>
              <a:rPr lang="en-GB" dirty="0"/>
              <a:t>survival</a:t>
            </a:r>
          </a:p>
        </p:txBody>
      </p:sp>
      <p:sp>
        <p:nvSpPr>
          <p:cNvPr id="5" name="Content Placeholder 4"/>
          <p:cNvSpPr>
            <a:spLocks noGrp="1"/>
          </p:cNvSpPr>
          <p:nvPr>
            <p:ph idx="1"/>
          </p:nvPr>
        </p:nvSpPr>
        <p:spPr/>
        <p:txBody>
          <a:bodyPr>
            <a:normAutofit/>
          </a:bodyPr>
          <a:lstStyle/>
          <a:p>
            <a:pPr lvl="0"/>
            <a:r>
              <a:rPr lang="en-GB" sz="2000" dirty="0"/>
              <a:t>If an adaptation is a change in the animal for the greater survival rate of the animal.</a:t>
            </a:r>
          </a:p>
          <a:p>
            <a:pPr lvl="0"/>
            <a:r>
              <a:rPr lang="en-GB" sz="2000" dirty="0"/>
              <a:t>You need to in pairs look at one feature found in an example animal and be able to explain why this is an adaptation that benefits the animal. How has the adaptation developed and what niche has it filled. </a:t>
            </a:r>
          </a:p>
          <a:p>
            <a:pPr lvl="0"/>
            <a:r>
              <a:rPr lang="en-GB" sz="2000" dirty="0"/>
              <a:t>You will be questioned on this so do back it up with research material. </a:t>
            </a:r>
          </a:p>
          <a:p>
            <a:pPr lvl="0"/>
            <a:r>
              <a:rPr lang="en-GB" sz="2000" dirty="0"/>
              <a:t>For animals which are struggling to adapt what provisions or safeguards can we put in place and why think of this from a whole class discussion.</a:t>
            </a:r>
          </a:p>
        </p:txBody>
      </p:sp>
      <p:sp>
        <p:nvSpPr>
          <p:cNvPr id="6" name="Text Placeholder 5"/>
          <p:cNvSpPr>
            <a:spLocks noGrp="1"/>
          </p:cNvSpPr>
          <p:nvPr>
            <p:ph type="body" sz="half" idx="2"/>
          </p:nvPr>
        </p:nvSpPr>
        <p:spPr/>
        <p:txBody>
          <a:bodyPr>
            <a:normAutofit/>
          </a:bodyPr>
          <a:lstStyle/>
          <a:p>
            <a:pPr lvl="0"/>
            <a:r>
              <a:rPr lang="en-GB" sz="1400" dirty="0">
                <a:solidFill>
                  <a:schemeClr val="tx1"/>
                </a:solidFill>
              </a:rPr>
              <a:t>Examine some of the causes of evolution and the subsequent effects that they have had.</a:t>
            </a:r>
          </a:p>
          <a:p>
            <a:pPr lvl="0"/>
            <a:r>
              <a:rPr lang="en-GB" sz="1400" dirty="0">
                <a:solidFill>
                  <a:schemeClr val="tx1"/>
                </a:solidFill>
              </a:rPr>
              <a:t>Explain the affect that a non-native species can have on a population of animals.</a:t>
            </a:r>
          </a:p>
          <a:p>
            <a:r>
              <a:rPr lang="en-GB" sz="1400" dirty="0">
                <a:solidFill>
                  <a:schemeClr val="tx1"/>
                </a:solidFill>
              </a:rPr>
              <a:t>Evaluate the impact that man made, and natural disasters can have on species both abstract and specific. </a:t>
            </a:r>
            <a:endParaRPr lang="en-GB" sz="1400" dirty="0"/>
          </a:p>
          <a:p>
            <a:endParaRPr lang="en-GB" sz="1400" dirty="0">
              <a:solidFill>
                <a:schemeClr val="tx1"/>
              </a:solidFill>
            </a:endParaRPr>
          </a:p>
          <a:p>
            <a:endParaRPr lang="en-GB" b="1" dirty="0">
              <a:solidFill>
                <a:schemeClr val="tx1"/>
              </a:solidFill>
            </a:endParaRPr>
          </a:p>
        </p:txBody>
      </p:sp>
      <p:sp>
        <p:nvSpPr>
          <p:cNvPr id="7" name="Title 1">
            <a:extLst>
              <a:ext uri="{FF2B5EF4-FFF2-40B4-BE49-F238E27FC236}">
                <a16:creationId xmlns:a16="http://schemas.microsoft.com/office/drawing/2014/main" id="{374E0B9D-B59E-C142-AC3F-7F10C97BCC83}"/>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Presentation skills &amp; Research. </a:t>
            </a:r>
            <a:endParaRPr lang="en-US" dirty="0"/>
          </a:p>
        </p:txBody>
      </p:sp>
      <p:sp>
        <p:nvSpPr>
          <p:cNvPr id="9" name="Oval 8">
            <a:extLst>
              <a:ext uri="{FF2B5EF4-FFF2-40B4-BE49-F238E27FC236}">
                <a16:creationId xmlns:a16="http://schemas.microsoft.com/office/drawing/2014/main" id="{CBBED2BB-D2ED-F14A-A6FB-3763A59FA15C}"/>
              </a:ext>
            </a:extLst>
          </p:cNvPr>
          <p:cNvSpPr/>
          <p:nvPr/>
        </p:nvSpPr>
        <p:spPr>
          <a:xfrm>
            <a:off x="4043772" y="27007"/>
            <a:ext cx="2052228" cy="2052228"/>
          </a:xfrm>
          <a:prstGeom prst="ellipse">
            <a:avLst/>
          </a:prstGeom>
          <a:solidFill>
            <a:srgbClr val="008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2060"/>
              </a:solidFill>
            </a:endParaRPr>
          </a:p>
        </p:txBody>
      </p:sp>
    </p:spTree>
    <p:extLst>
      <p:ext uri="{BB962C8B-B14F-4D97-AF65-F5344CB8AC3E}">
        <p14:creationId xmlns:p14="http://schemas.microsoft.com/office/powerpoint/2010/main" val="76535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300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research</a:t>
            </a:r>
          </a:p>
        </p:txBody>
      </p:sp>
      <p:sp>
        <p:nvSpPr>
          <p:cNvPr id="4" name="Content Placeholder 3"/>
          <p:cNvSpPr>
            <a:spLocks noGrp="1"/>
          </p:cNvSpPr>
          <p:nvPr>
            <p:ph idx="1"/>
          </p:nvPr>
        </p:nvSpPr>
        <p:spPr/>
        <p:txBody>
          <a:bodyPr/>
          <a:lstStyle/>
          <a:p>
            <a:r>
              <a:rPr lang="en-GB" dirty="0"/>
              <a:t>In groups you need to create a presentation in a format of your choice that looks at one of the following causes of extinction.</a:t>
            </a:r>
          </a:p>
          <a:p>
            <a:r>
              <a:rPr lang="en-GB" dirty="0"/>
              <a:t>Natural disaster </a:t>
            </a:r>
          </a:p>
          <a:p>
            <a:r>
              <a:rPr lang="en-GB" dirty="0"/>
              <a:t>Over exploitation</a:t>
            </a:r>
          </a:p>
          <a:p>
            <a:r>
              <a:rPr lang="en-GB" dirty="0"/>
              <a:t>Hunting</a:t>
            </a:r>
          </a:p>
          <a:p>
            <a:r>
              <a:rPr lang="en-GB" dirty="0"/>
              <a:t>Disease</a:t>
            </a:r>
          </a:p>
          <a:p>
            <a:r>
              <a:rPr lang="en-GB" dirty="0"/>
              <a:t>Think of a key example of how this has impacted the population how many species went extinct. How did the event start and give specific examples. The task is due next week as part of the lesson. Think about any solutions to the problems as you are researching to back up / reinforce </a:t>
            </a:r>
            <a:r>
              <a:rPr lang="en-GB"/>
              <a:t>your point. </a:t>
            </a:r>
            <a:endParaRPr lang="en-GB" dirty="0"/>
          </a:p>
        </p:txBody>
      </p:sp>
      <p:sp>
        <p:nvSpPr>
          <p:cNvPr id="5" name="Text Placeholder 4"/>
          <p:cNvSpPr>
            <a:spLocks noGrp="1"/>
          </p:cNvSpPr>
          <p:nvPr>
            <p:ph type="body" sz="half" idx="2"/>
          </p:nvPr>
        </p:nvSpPr>
        <p:spPr/>
        <p:txBody>
          <a:bodyPr>
            <a:normAutofit/>
          </a:bodyPr>
          <a:lstStyle/>
          <a:p>
            <a:pPr lvl="0"/>
            <a:r>
              <a:rPr lang="en-GB" sz="1400" dirty="0">
                <a:solidFill>
                  <a:schemeClr val="tx1"/>
                </a:solidFill>
              </a:rPr>
              <a:t>Examine some of the causes of evolution and the subsequent effects that they have had.</a:t>
            </a:r>
          </a:p>
          <a:p>
            <a:pPr lvl="0"/>
            <a:r>
              <a:rPr lang="en-GB" sz="1400" dirty="0">
                <a:solidFill>
                  <a:schemeClr val="tx1"/>
                </a:solidFill>
              </a:rPr>
              <a:t>Explain the affect that a non-native species can have on a population of animals.</a:t>
            </a:r>
          </a:p>
          <a:p>
            <a:r>
              <a:rPr lang="en-GB" sz="1400" dirty="0">
                <a:solidFill>
                  <a:schemeClr val="tx1"/>
                </a:solidFill>
              </a:rPr>
              <a:t>Evaluate the impact that man made, and natural disasters can have on species both abstract and specific. </a:t>
            </a:r>
            <a:endParaRPr lang="en-GB" sz="1400" dirty="0"/>
          </a:p>
          <a:p>
            <a:endParaRPr lang="en-GB" sz="1400" dirty="0">
              <a:solidFill>
                <a:schemeClr val="tx1"/>
              </a:solidFill>
            </a:endParaRPr>
          </a:p>
          <a:p>
            <a:endParaRPr lang="en-GB" b="1" dirty="0">
              <a:solidFill>
                <a:schemeClr val="tx1"/>
              </a:solidFill>
            </a:endParaRPr>
          </a:p>
        </p:txBody>
      </p:sp>
      <p:sp>
        <p:nvSpPr>
          <p:cNvPr id="6" name="Title 1">
            <a:extLst>
              <a:ext uri="{FF2B5EF4-FFF2-40B4-BE49-F238E27FC236}">
                <a16:creationId xmlns:a16="http://schemas.microsoft.com/office/drawing/2014/main" id="{C4CB1445-01BC-A341-92DB-9BA40DE895D9}"/>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Presentation skills &amp; Research. </a:t>
            </a:r>
            <a:endParaRPr lang="en-US" dirty="0"/>
          </a:p>
        </p:txBody>
      </p:sp>
    </p:spTree>
    <p:extLst>
      <p:ext uri="{BB962C8B-B14F-4D97-AF65-F5344CB8AC3E}">
        <p14:creationId xmlns:p14="http://schemas.microsoft.com/office/powerpoint/2010/main" val="38323232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1123</TotalTime>
  <Words>1345</Words>
  <Application>Microsoft Macintosh PowerPoint</Application>
  <PresentationFormat>Widescreen</PresentationFormat>
  <Paragraphs>91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Gill Sans MT</vt:lpstr>
      <vt:lpstr>Parcel</vt:lpstr>
      <vt:lpstr>welfare</vt:lpstr>
      <vt:lpstr>pollutants</vt:lpstr>
      <vt:lpstr>Invasive species’</vt:lpstr>
      <vt:lpstr>Evolutionary change </vt:lpstr>
      <vt:lpstr>adaptation</vt:lpstr>
      <vt:lpstr>survival</vt:lpstr>
      <vt:lpstr>research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Grooming 12</dc:title>
  <dc:creator>Jordon Millward</dc:creator>
  <cp:lastModifiedBy>Jordon Millward</cp:lastModifiedBy>
  <cp:revision>102</cp:revision>
  <dcterms:created xsi:type="dcterms:W3CDTF">2017-11-29T18:08:04Z</dcterms:created>
  <dcterms:modified xsi:type="dcterms:W3CDTF">2019-11-01T16:36:01Z</dcterms:modified>
</cp:coreProperties>
</file>